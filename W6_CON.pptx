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59" r:id="rId5"/>
    <p:sldId id="264" r:id="rId6"/>
    <p:sldId id="265" r:id="rId7"/>
    <p:sldId id="266" r:id="rId8"/>
    <p:sldId id="267" r:id="rId9"/>
    <p:sldId id="275" r:id="rId10"/>
    <p:sldId id="257" r:id="rId11"/>
    <p:sldId id="269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-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AB6B-121B-38FE-5964-1538339CC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61EA3-7CC2-AAF0-C90A-408576C26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87DB-3648-BF73-C39F-3B5DACB0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59F90-6CB5-5B5D-A003-405305B8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4875F-781E-33A2-7B66-BB9728DF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6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9996-9DD7-6FF5-7827-BC75C3DD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063A-C48F-BBE1-13F4-7AE625BE8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47EE9-7E9A-3CFD-CF7C-5D28E7C04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21501-EC5A-FE47-DCD5-FD16CE68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F86FD-B328-3F5B-CAEA-2A14D89C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3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94B5-D149-D32A-2D7A-1E73B6D6E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2A597-D3CE-EAF0-314C-A7035418D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67C84-659E-DE3D-4D3A-B9721BD3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293A-BB90-FCEA-9DB1-6D86DC42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F5CA1-7F6D-AD1F-469C-C164ECA4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8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77B5-639D-2481-A861-C8F001DC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1EF78-56E9-CAED-A9C3-8CDECFA56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27407-9299-A92E-91BA-CE41D9CF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F5201-01DA-F7B8-7088-D416C344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5BD97-FDE1-4A84-441D-4870E11A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45CA3-5DAA-40F0-2D5A-C1E71950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3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EA07-E7CD-31A9-CFDF-6AEB4CAC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CA8D8-F1F2-88E4-C877-762310E9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2EDAD-6120-99AC-CFC2-6A283EF4D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21B76-D4A1-D71E-83E6-98992A661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65E4B-E49B-F4FD-B50B-7C21FE19D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8141F-99F2-0A42-3473-60955BBC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97F3B-0740-12CF-EF4D-DA91DD8B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55792-3C06-400B-E18B-78E062BE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0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50B3-ECDD-C256-2648-4FF17AE3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8DC25-A10A-F0AA-BC5B-92342AB9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6BEA9-EAA1-3E46-A65B-01AFDFB9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1A88B-B047-406E-1DF9-ED9F7E07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7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E4B03-854F-AB7D-2B3C-E9FAE26A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D5B5-0582-CC7A-868C-F553FAE2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95CDE-4014-21E9-DFFA-368EFEB9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9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5485-6024-4384-D5CD-844790E0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A5ED-4548-49AE-EC3B-A198D38F3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34154-B39A-DCC8-E04A-FB2E36BA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60E8A-8457-57A4-3F60-4ED25FAB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2D10E-8DFD-0FBE-6BE2-81435997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450E9-A8A4-F57B-6959-B9E9E941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6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E742-BC39-895C-424A-FB7892A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D72001-ECD8-67AF-F670-5E55565A1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72A87-CB00-6BE5-6774-1D82DA50B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F6059-9D40-5E33-B22D-3DD7FB55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2E1EC-BFC5-F9E1-F58B-72FD8181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86A3E-AE89-D39E-9040-4AD685A4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90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7D-DB34-513A-022C-C4F0324F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A3C67-C9B1-A0CE-F23B-8556A13B8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667E9-EF6D-CCFB-028E-F865E081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7584-B3CB-28BD-8EE3-7AC418F8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A797-8E0B-A877-37CE-771889AC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5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E60FD-8A38-64CA-D7A1-0FA13BEA8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1403D-D9EA-8003-7AC1-AAD329662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D5190-0EAD-3CEF-9ECC-04340533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2E193-696C-7C09-77A6-4F1DD82ED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4284-3A30-8338-1454-FE623DA9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1A5627-1D04-7CA6-93E5-F2C1FB4D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EB078-FF17-5CB1-6BF3-F6760405B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221C-435E-1EA0-2779-B9647288C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8DEF-EEEB-41B9-ABA5-E5C0B460650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FA2BD-3824-4493-A1E7-E28E250CF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A40EF-8A63-3052-7768-ADD99C14A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17598-C454-488A-93F3-ACAEFE302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7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86DC-5398-2EA6-9379-1EE055121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2C7FB-1847-5262-3DB6-999999458D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46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443" y="-185480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443" y="1140539"/>
            <a:ext cx="6712584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On-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Chip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refers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performance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parameters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(such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as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delay,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power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consumption,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etc.)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among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different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instances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same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integrated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circuit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design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manufacturing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process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variations,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environmental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conditions,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other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factors.</a:t>
            </a:r>
            <a:endParaRPr sz="1400" dirty="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22360" y="1296282"/>
            <a:ext cx="2581275" cy="2478405"/>
            <a:chOff x="8222360" y="1296282"/>
            <a:chExt cx="2581275" cy="24784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8710" y="1296282"/>
              <a:ext cx="2568575" cy="20549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8710" y="3354273"/>
              <a:ext cx="2568575" cy="401320"/>
            </a:xfrm>
            <a:custGeom>
              <a:avLst/>
              <a:gdLst/>
              <a:ahLst/>
              <a:cxnLst/>
              <a:rect l="l" t="t" r="r" b="b"/>
              <a:pathLst>
                <a:path w="2568575" h="401320">
                  <a:moveTo>
                    <a:pt x="2568575" y="0"/>
                  </a:moveTo>
                  <a:lnTo>
                    <a:pt x="0" y="0"/>
                  </a:lnTo>
                  <a:lnTo>
                    <a:pt x="0" y="400862"/>
                  </a:lnTo>
                  <a:lnTo>
                    <a:pt x="2568575" y="400862"/>
                  </a:lnTo>
                  <a:lnTo>
                    <a:pt x="2568575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2360" y="3347973"/>
              <a:ext cx="2581275" cy="426720"/>
            </a:xfrm>
            <a:custGeom>
              <a:avLst/>
              <a:gdLst/>
              <a:ahLst/>
              <a:cxnLst/>
              <a:rect l="l" t="t" r="r" b="b"/>
              <a:pathLst>
                <a:path w="2581275" h="426720">
                  <a:moveTo>
                    <a:pt x="6350" y="0"/>
                  </a:moveTo>
                  <a:lnTo>
                    <a:pt x="6350" y="426212"/>
                  </a:lnTo>
                </a:path>
                <a:path w="2581275" h="426720">
                  <a:moveTo>
                    <a:pt x="2574925" y="0"/>
                  </a:moveTo>
                  <a:lnTo>
                    <a:pt x="2574925" y="426212"/>
                  </a:lnTo>
                </a:path>
                <a:path w="2581275" h="426720">
                  <a:moveTo>
                    <a:pt x="0" y="6350"/>
                  </a:moveTo>
                  <a:lnTo>
                    <a:pt x="2581275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22360" y="3755136"/>
              <a:ext cx="2581275" cy="0"/>
            </a:xfrm>
            <a:custGeom>
              <a:avLst/>
              <a:gdLst/>
              <a:ahLst/>
              <a:cxnLst/>
              <a:rect l="l" t="t" r="r" b="b"/>
              <a:pathLst>
                <a:path w="2581275">
                  <a:moveTo>
                    <a:pt x="0" y="0"/>
                  </a:moveTo>
                  <a:lnTo>
                    <a:pt x="258127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35060" y="3352266"/>
            <a:ext cx="2555875" cy="385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9385" marR="151765" indent="172085">
              <a:lnSpc>
                <a:spcPct val="107300"/>
              </a:lnSpc>
              <a:spcBef>
                <a:spcPts val="95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Gates</a:t>
            </a:r>
            <a:r>
              <a:rPr sz="11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sz="11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11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same</a:t>
            </a:r>
            <a:r>
              <a:rPr sz="11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size</a:t>
            </a:r>
            <a:r>
              <a:rPr sz="11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Segoe UI"/>
                <a:cs typeface="Segoe UI"/>
              </a:rPr>
              <a:t>and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function</a:t>
            </a:r>
            <a:r>
              <a:rPr sz="11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can</a:t>
            </a:r>
            <a:r>
              <a:rPr sz="11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have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different</a:t>
            </a:r>
            <a:r>
              <a:rPr sz="11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delays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195"/>
                </a:spcBef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52004" y="5147945"/>
            <a:ext cx="2073275" cy="357505"/>
            <a:chOff x="7652004" y="5147945"/>
            <a:chExt cx="2073275" cy="357505"/>
          </a:xfrm>
        </p:grpSpPr>
        <p:sp>
          <p:nvSpPr>
            <p:cNvPr id="3" name="object 3"/>
            <p:cNvSpPr/>
            <p:nvPr/>
          </p:nvSpPr>
          <p:spPr>
            <a:xfrm>
              <a:off x="7677404" y="5160594"/>
              <a:ext cx="2022475" cy="319405"/>
            </a:xfrm>
            <a:custGeom>
              <a:avLst/>
              <a:gdLst/>
              <a:ahLst/>
              <a:cxnLst/>
              <a:rect l="l" t="t" r="r" b="b"/>
              <a:pathLst>
                <a:path w="2022475" h="319404">
                  <a:moveTo>
                    <a:pt x="2022475" y="0"/>
                  </a:moveTo>
                  <a:lnTo>
                    <a:pt x="0" y="0"/>
                  </a:lnTo>
                  <a:lnTo>
                    <a:pt x="0" y="319328"/>
                  </a:lnTo>
                  <a:lnTo>
                    <a:pt x="2022475" y="319328"/>
                  </a:lnTo>
                  <a:lnTo>
                    <a:pt x="2022475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77404" y="5154295"/>
              <a:ext cx="2022475" cy="344805"/>
            </a:xfrm>
            <a:custGeom>
              <a:avLst/>
              <a:gdLst/>
              <a:ahLst/>
              <a:cxnLst/>
              <a:rect l="l" t="t" r="r" b="b"/>
              <a:pathLst>
                <a:path w="2022475" h="344804">
                  <a:moveTo>
                    <a:pt x="0" y="0"/>
                  </a:moveTo>
                  <a:lnTo>
                    <a:pt x="0" y="344677"/>
                  </a:lnTo>
                </a:path>
                <a:path w="2022475" h="344804">
                  <a:moveTo>
                    <a:pt x="2022475" y="0"/>
                  </a:moveTo>
                  <a:lnTo>
                    <a:pt x="2022475" y="34467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71054" y="5479923"/>
              <a:ext cx="2035175" cy="0"/>
            </a:xfrm>
            <a:custGeom>
              <a:avLst/>
              <a:gdLst/>
              <a:ahLst/>
              <a:cxnLst/>
              <a:rect l="l" t="t" r="r" b="b"/>
              <a:pathLst>
                <a:path w="2035175">
                  <a:moveTo>
                    <a:pt x="0" y="0"/>
                  </a:moveTo>
                  <a:lnTo>
                    <a:pt x="203517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3754" y="5219446"/>
            <a:ext cx="2009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Variations</a:t>
            </a:r>
            <a:r>
              <a:rPr sz="11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1100" b="1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interconnect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999344" y="2595372"/>
            <a:ext cx="1640839" cy="400685"/>
            <a:chOff x="9999344" y="2595372"/>
            <a:chExt cx="1640839" cy="400685"/>
          </a:xfrm>
        </p:grpSpPr>
        <p:sp>
          <p:nvSpPr>
            <p:cNvPr id="8" name="object 8"/>
            <p:cNvSpPr/>
            <p:nvPr/>
          </p:nvSpPr>
          <p:spPr>
            <a:xfrm>
              <a:off x="10024744" y="2607970"/>
              <a:ext cx="1590040" cy="363220"/>
            </a:xfrm>
            <a:custGeom>
              <a:avLst/>
              <a:gdLst/>
              <a:ahLst/>
              <a:cxnLst/>
              <a:rect l="l" t="t" r="r" b="b"/>
              <a:pathLst>
                <a:path w="1590040" h="363219">
                  <a:moveTo>
                    <a:pt x="1590040" y="0"/>
                  </a:moveTo>
                  <a:lnTo>
                    <a:pt x="0" y="0"/>
                  </a:lnTo>
                  <a:lnTo>
                    <a:pt x="0" y="362686"/>
                  </a:lnTo>
                  <a:lnTo>
                    <a:pt x="1590040" y="362686"/>
                  </a:lnTo>
                  <a:lnTo>
                    <a:pt x="159004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24744" y="2601722"/>
              <a:ext cx="1590040" cy="387985"/>
            </a:xfrm>
            <a:custGeom>
              <a:avLst/>
              <a:gdLst/>
              <a:ahLst/>
              <a:cxnLst/>
              <a:rect l="l" t="t" r="r" b="b"/>
              <a:pathLst>
                <a:path w="1590040" h="387985">
                  <a:moveTo>
                    <a:pt x="0" y="0"/>
                  </a:moveTo>
                  <a:lnTo>
                    <a:pt x="0" y="387985"/>
                  </a:lnTo>
                </a:path>
                <a:path w="1590040" h="387985">
                  <a:moveTo>
                    <a:pt x="1590039" y="0"/>
                  </a:moveTo>
                  <a:lnTo>
                    <a:pt x="1590039" y="38798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18394" y="2970656"/>
              <a:ext cx="1602740" cy="0"/>
            </a:xfrm>
            <a:custGeom>
              <a:avLst/>
              <a:gdLst/>
              <a:ahLst/>
              <a:cxnLst/>
              <a:rect l="l" t="t" r="r" b="b"/>
              <a:pathLst>
                <a:path w="1602740">
                  <a:moveTo>
                    <a:pt x="0" y="0"/>
                  </a:moveTo>
                  <a:lnTo>
                    <a:pt x="160273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31094" y="2604287"/>
            <a:ext cx="1577340" cy="35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359" marR="85725" indent="-375285">
              <a:lnSpc>
                <a:spcPct val="107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Segoe UI"/>
                <a:cs typeface="Segoe UI"/>
              </a:rPr>
              <a:t>Temperature</a:t>
            </a:r>
            <a:r>
              <a:rPr sz="1000" b="1" spc="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Segoe UI"/>
                <a:cs typeface="Segoe UI"/>
              </a:rPr>
              <a:t>variations </a:t>
            </a:r>
            <a:r>
              <a:rPr sz="1000" b="1" dirty="0">
                <a:solidFill>
                  <a:srgbClr val="FFFFFF"/>
                </a:solidFill>
                <a:latin typeface="Segoe UI"/>
                <a:cs typeface="Segoe UI"/>
              </a:rPr>
              <a:t>on</a:t>
            </a:r>
            <a:r>
              <a:rPr sz="10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Segoe UI"/>
                <a:cs typeface="Segoe UI"/>
              </a:rPr>
              <a:t>chip</a:t>
            </a:r>
            <a:r>
              <a:rPr sz="10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Segoe UI"/>
                <a:cs typeface="Segoe UI"/>
              </a:rPr>
              <a:t>[2]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38200" y="13918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Sources</a:t>
            </a:r>
            <a:r>
              <a:rPr spc="-8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25" dirty="0"/>
              <a:t>OCV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23443" y="1140539"/>
            <a:ext cx="5933440" cy="9855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6545" marR="5080" indent="-284480" algn="just">
              <a:lnSpc>
                <a:spcPct val="150100"/>
              </a:lnSpc>
              <a:spcBef>
                <a:spcPts val="9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Process</a:t>
            </a:r>
            <a:r>
              <a:rPr sz="1400" b="1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Variations:</a:t>
            </a:r>
            <a:r>
              <a:rPr sz="1400" b="1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Variations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manufacturing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process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lead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to 	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differences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transistor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characteristics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(such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threshold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voltage,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oxide 	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thickness,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doping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concentration,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etc.)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443" y="2379319"/>
            <a:ext cx="64541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spc="-20" dirty="0">
                <a:solidFill>
                  <a:srgbClr val="404040"/>
                </a:solidFill>
                <a:latin typeface="Segoe UI"/>
                <a:cs typeface="Segoe UI"/>
              </a:rPr>
              <a:t>Temperature</a:t>
            </a:r>
            <a:r>
              <a:rPr sz="1400" b="1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Variations:</a:t>
            </a:r>
            <a:r>
              <a:rPr sz="1400" b="1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Temperature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fluctuations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across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chip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during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operation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cause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transistor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behaviour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interconnect delays.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443" y="3298672"/>
            <a:ext cx="66795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Supply</a:t>
            </a:r>
            <a:r>
              <a:rPr sz="1400" b="1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Voltage</a:t>
            </a:r>
            <a:r>
              <a:rPr sz="1400" b="1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Variations:</a:t>
            </a:r>
            <a:r>
              <a:rPr sz="1400" b="1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Fluctuations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supply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voltage,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factors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like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power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supply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noise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voltage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drop,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affect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performance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transistors</a:t>
            </a:r>
            <a:r>
              <a:rPr sz="1400" spc="50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circuits.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3443" y="4538529"/>
            <a:ext cx="6557645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Interconnect</a:t>
            </a:r>
            <a:r>
              <a:rPr sz="1400" b="1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Variations:</a:t>
            </a:r>
            <a:r>
              <a:rPr sz="1400" b="1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Variations</a:t>
            </a:r>
            <a:r>
              <a:rPr sz="1400" spc="-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interconnect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resistance,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capacitance,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and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parasitic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effects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lead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differences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signal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propagation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delay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power consumption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800975" y="2433320"/>
            <a:ext cx="1934845" cy="300355"/>
            <a:chOff x="7800975" y="2433320"/>
            <a:chExt cx="1934845" cy="300355"/>
          </a:xfrm>
        </p:grpSpPr>
        <p:sp>
          <p:nvSpPr>
            <p:cNvPr id="18" name="object 18"/>
            <p:cNvSpPr/>
            <p:nvPr/>
          </p:nvSpPr>
          <p:spPr>
            <a:xfrm>
              <a:off x="7826375" y="2445969"/>
              <a:ext cx="1884045" cy="262255"/>
            </a:xfrm>
            <a:custGeom>
              <a:avLst/>
              <a:gdLst/>
              <a:ahLst/>
              <a:cxnLst/>
              <a:rect l="l" t="t" r="r" b="b"/>
              <a:pathLst>
                <a:path w="1884045" h="262255">
                  <a:moveTo>
                    <a:pt x="1884045" y="0"/>
                  </a:moveTo>
                  <a:lnTo>
                    <a:pt x="0" y="0"/>
                  </a:lnTo>
                  <a:lnTo>
                    <a:pt x="0" y="262178"/>
                  </a:lnTo>
                  <a:lnTo>
                    <a:pt x="1884045" y="262178"/>
                  </a:lnTo>
                  <a:lnTo>
                    <a:pt x="1884045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26375" y="2439670"/>
              <a:ext cx="1884045" cy="287655"/>
            </a:xfrm>
            <a:custGeom>
              <a:avLst/>
              <a:gdLst/>
              <a:ahLst/>
              <a:cxnLst/>
              <a:rect l="l" t="t" r="r" b="b"/>
              <a:pathLst>
                <a:path w="1884045" h="287655">
                  <a:moveTo>
                    <a:pt x="0" y="0"/>
                  </a:moveTo>
                  <a:lnTo>
                    <a:pt x="0" y="287527"/>
                  </a:lnTo>
                </a:path>
                <a:path w="1884045" h="287655">
                  <a:moveTo>
                    <a:pt x="1884045" y="0"/>
                  </a:moveTo>
                  <a:lnTo>
                    <a:pt x="1884045" y="28752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20025" y="2708148"/>
              <a:ext cx="1896745" cy="0"/>
            </a:xfrm>
            <a:custGeom>
              <a:avLst/>
              <a:gdLst/>
              <a:ahLst/>
              <a:cxnLst/>
              <a:rect l="l" t="t" r="r" b="b"/>
              <a:pathLst>
                <a:path w="1896745">
                  <a:moveTo>
                    <a:pt x="0" y="0"/>
                  </a:moveTo>
                  <a:lnTo>
                    <a:pt x="189674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832725" y="2492502"/>
            <a:ext cx="1871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Segoe UI"/>
                <a:cs typeface="Segoe UI"/>
              </a:rPr>
              <a:t>MOSFET</a:t>
            </a:r>
            <a:r>
              <a:rPr sz="9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FFFFFF"/>
                </a:solidFill>
                <a:latin typeface="Segoe UI"/>
                <a:cs typeface="Segoe UI"/>
              </a:rPr>
              <a:t>under</a:t>
            </a:r>
            <a:r>
              <a:rPr sz="9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b="1" dirty="0">
                <a:solidFill>
                  <a:srgbClr val="FFFFFF"/>
                </a:solidFill>
                <a:latin typeface="Segoe UI"/>
                <a:cs typeface="Segoe UI"/>
              </a:rPr>
              <a:t>microscope</a:t>
            </a:r>
            <a:r>
              <a:rPr sz="9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Segoe UI"/>
                <a:cs typeface="Segoe UI"/>
              </a:rPr>
              <a:t>[1]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798" y="1150366"/>
            <a:ext cx="1926971" cy="13032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394" y="1141602"/>
            <a:ext cx="1602739" cy="14874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1683" y="2941320"/>
            <a:ext cx="2074545" cy="2225674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021" y="-146495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85" dirty="0"/>
              <a:t> </a:t>
            </a:r>
            <a:r>
              <a:rPr dirty="0"/>
              <a:t>Chip</a:t>
            </a:r>
            <a:r>
              <a:rPr spc="-65" dirty="0"/>
              <a:t> </a:t>
            </a:r>
            <a:r>
              <a:rPr spc="-20" dirty="0"/>
              <a:t>Variation</a:t>
            </a:r>
            <a:r>
              <a:rPr spc="-75" dirty="0"/>
              <a:t> </a:t>
            </a:r>
            <a:r>
              <a:rPr dirty="0"/>
              <a:t>(OCV)</a:t>
            </a:r>
            <a:r>
              <a:rPr spc="-65" dirty="0"/>
              <a:t> </a:t>
            </a:r>
            <a:r>
              <a:rPr dirty="0"/>
              <a:t>vs</a:t>
            </a:r>
            <a:r>
              <a:rPr spc="-80" dirty="0"/>
              <a:t> </a:t>
            </a:r>
            <a:r>
              <a:rPr dirty="0"/>
              <a:t>Process</a:t>
            </a:r>
            <a:r>
              <a:rPr spc="-95" dirty="0"/>
              <a:t> </a:t>
            </a:r>
            <a:r>
              <a:rPr spc="-20" dirty="0"/>
              <a:t>Voltage</a:t>
            </a:r>
            <a:r>
              <a:rPr spc="-80" dirty="0"/>
              <a:t> </a:t>
            </a:r>
            <a:r>
              <a:rPr spc="-35" dirty="0"/>
              <a:t>Temperature</a:t>
            </a:r>
            <a:r>
              <a:rPr spc="-80" dirty="0"/>
              <a:t> </a:t>
            </a:r>
            <a:r>
              <a:rPr spc="-10" dirty="0"/>
              <a:t>(PVT)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3443" y="1179068"/>
            <a:ext cx="8099425" cy="1224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PVT</a:t>
            </a:r>
            <a:r>
              <a:rPr sz="1400" b="1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discusses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global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affecting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entire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chip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including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all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instances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(Die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variations)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Clr>
                <a:srgbClr val="404040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OCV</a:t>
            </a:r>
            <a:r>
              <a:rPr sz="1400" b="1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discusses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variations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happen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within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same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chip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Clr>
                <a:srgbClr val="404040"/>
              </a:buClr>
              <a:buFont typeface="Arial"/>
              <a:buChar char="•"/>
            </a:pP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document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discuss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OCV</a:t>
            </a:r>
            <a:r>
              <a:rPr sz="1400" b="1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only</a:t>
            </a:r>
            <a:endParaRPr sz="1400" dirty="0">
              <a:latin typeface="Segoe UI"/>
              <a:cs typeface="Segoe U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5292" y="2530220"/>
          <a:ext cx="11146155" cy="329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7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PVT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OCV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Segoe UI"/>
                          <a:cs typeface="Segoe UI"/>
                        </a:rPr>
                        <a:t>Process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8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Segoe UI"/>
                          <a:cs typeface="Segoe UI"/>
                        </a:rPr>
                        <a:t>Systematic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large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such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doping,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oxide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thickness,</a:t>
                      </a:r>
                      <a:r>
                        <a:rPr sz="120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etc</a:t>
                      </a:r>
                      <a:r>
                        <a:rPr sz="12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affect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entire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parts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wafer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resulting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all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instance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chip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be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faster or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slower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than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average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43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Non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systematic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smaller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that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affect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some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instance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a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while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not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affecting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others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latin typeface="Segoe UI"/>
                          <a:cs typeface="Segoe UI"/>
                        </a:rPr>
                        <a:t>Voltage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Difference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supply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voltage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provided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entire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chip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can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have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two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operating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voltages 3V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high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performance</a:t>
                      </a:r>
                      <a:r>
                        <a:rPr sz="1200" spc="-6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mode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2V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low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power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mode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9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between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different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cells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due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different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power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grid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resistances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hotspots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high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cell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density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2075" marR="2971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supply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3V,</a:t>
                      </a:r>
                      <a:r>
                        <a:rPr sz="12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cell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gets</a:t>
                      </a:r>
                      <a:r>
                        <a:rPr sz="120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2.9V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while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another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one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near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it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gets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2.85V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Segoe UI"/>
                          <a:cs typeface="Segoe UI"/>
                        </a:rPr>
                        <a:t>Temperature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Ambient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where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will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be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operated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1440" marR="13906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is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being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used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summer</a:t>
                      </a:r>
                      <a:r>
                        <a:rPr sz="12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vs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winter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cooled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server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room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(</a:t>
                      </a:r>
                      <a:r>
                        <a:rPr sz="1200" spc="-7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−40℃)</a:t>
                      </a:r>
                      <a:r>
                        <a:rPr sz="1200" spc="7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hot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car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engine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(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120℃)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986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Segoe UI"/>
                          <a:cs typeface="Segoe UI"/>
                        </a:rPr>
                        <a:t>Temperature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withing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same</a:t>
                      </a:r>
                      <a:r>
                        <a:rPr sz="12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due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parts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chip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consuming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more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power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than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others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hotspots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high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cell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density.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CPU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has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temp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Cambria Math"/>
                          <a:cs typeface="Cambria Math"/>
                        </a:rPr>
                        <a:t>125℃</a:t>
                      </a:r>
                      <a:r>
                        <a:rPr sz="1200" spc="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while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rest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of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has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temp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Cambria Math"/>
                          <a:cs typeface="Cambria Math"/>
                        </a:rPr>
                        <a:t>100℃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1D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Segoe UI"/>
                          <a:cs typeface="Segoe UI"/>
                        </a:rPr>
                        <a:t>Interconnect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01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Large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affecting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 characteristics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all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wires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on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chip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chemical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resulting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all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wires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chip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to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have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higher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resistivity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than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average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Smaller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between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wires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within</a:t>
                      </a:r>
                      <a:r>
                        <a:rPr sz="120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same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chip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92075" marR="1028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example,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due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random</a:t>
                      </a:r>
                      <a:r>
                        <a:rPr sz="120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variations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etching,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was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etched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 more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than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near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12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resulting</a:t>
                      </a:r>
                      <a:r>
                        <a:rPr sz="12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a</a:t>
                      </a:r>
                      <a:r>
                        <a:rPr sz="12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narrower</a:t>
                      </a:r>
                      <a:r>
                        <a:rPr sz="1200" spc="-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wire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with</a:t>
                      </a:r>
                      <a:r>
                        <a:rPr sz="12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latin typeface="Segoe UI"/>
                          <a:cs typeface="Segoe UI"/>
                        </a:rPr>
                        <a:t>more</a:t>
                      </a:r>
                      <a:r>
                        <a:rPr sz="12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latin typeface="Segoe UI"/>
                          <a:cs typeface="Segoe UI"/>
                        </a:rPr>
                        <a:t>resistance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290" y="199366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Segoe UI"/>
                <a:cs typeface="Segoe UI"/>
              </a:rPr>
              <a:t>Advanced</a:t>
            </a:r>
            <a:r>
              <a:rPr b="1" spc="-65" dirty="0">
                <a:latin typeface="Segoe UI"/>
                <a:cs typeface="Segoe UI"/>
              </a:rPr>
              <a:t> </a:t>
            </a:r>
            <a:r>
              <a:rPr b="1" spc="-20" dirty="0">
                <a:latin typeface="Segoe UI"/>
                <a:cs typeface="Segoe UI"/>
              </a:rPr>
              <a:t>On-</a:t>
            </a:r>
            <a:r>
              <a:rPr b="1" dirty="0">
                <a:latin typeface="Segoe UI"/>
                <a:cs typeface="Segoe UI"/>
              </a:rPr>
              <a:t>chip</a:t>
            </a:r>
            <a:r>
              <a:rPr b="1" spc="-70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Variation</a:t>
            </a:r>
            <a:r>
              <a:rPr b="1" spc="-70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(AOCV)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7376" y="2397117"/>
            <a:ext cx="254635" cy="2374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443" y="4623925"/>
            <a:ext cx="6278880" cy="11087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27685" indent="-286385">
              <a:lnSpc>
                <a:spcPct val="100000"/>
              </a:lnSpc>
              <a:spcBef>
                <a:spcPts val="705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Requires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additional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tables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derates</a:t>
            </a:r>
            <a:endParaRPr sz="1400">
              <a:latin typeface="Segoe UI"/>
              <a:cs typeface="Segoe UI"/>
            </a:endParaRPr>
          </a:p>
          <a:p>
            <a:pPr marL="527685" indent="-28638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Higher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runtime</a:t>
            </a:r>
            <a:endParaRPr sz="1400">
              <a:latin typeface="Segoe UI"/>
              <a:cs typeface="Segoe UI"/>
            </a:endParaRPr>
          </a:p>
          <a:p>
            <a:pPr marL="354965" marR="508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used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mid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tech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nodes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(&gt;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40nm).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However,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small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tech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nodes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there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still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over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pessimism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AOCV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can’t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cancel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42069" y="3101848"/>
            <a:ext cx="1377315" cy="357505"/>
            <a:chOff x="8942069" y="3101848"/>
            <a:chExt cx="1377315" cy="357505"/>
          </a:xfrm>
        </p:grpSpPr>
        <p:sp>
          <p:nvSpPr>
            <p:cNvPr id="6" name="object 6"/>
            <p:cNvSpPr/>
            <p:nvPr/>
          </p:nvSpPr>
          <p:spPr>
            <a:xfrm>
              <a:off x="8967469" y="3114624"/>
              <a:ext cx="1326515" cy="319405"/>
            </a:xfrm>
            <a:custGeom>
              <a:avLst/>
              <a:gdLst/>
              <a:ahLst/>
              <a:cxnLst/>
              <a:rect l="l" t="t" r="r" b="b"/>
              <a:pathLst>
                <a:path w="1326515" h="319404">
                  <a:moveTo>
                    <a:pt x="1326387" y="0"/>
                  </a:moveTo>
                  <a:lnTo>
                    <a:pt x="0" y="0"/>
                  </a:lnTo>
                  <a:lnTo>
                    <a:pt x="0" y="319328"/>
                  </a:lnTo>
                  <a:lnTo>
                    <a:pt x="1326387" y="319328"/>
                  </a:lnTo>
                  <a:lnTo>
                    <a:pt x="132638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1119" y="3108198"/>
              <a:ext cx="1339215" cy="344805"/>
            </a:xfrm>
            <a:custGeom>
              <a:avLst/>
              <a:gdLst/>
              <a:ahLst/>
              <a:cxnLst/>
              <a:rect l="l" t="t" r="r" b="b"/>
              <a:pathLst>
                <a:path w="1339215" h="344804">
                  <a:moveTo>
                    <a:pt x="6350" y="0"/>
                  </a:moveTo>
                  <a:lnTo>
                    <a:pt x="6350" y="344804"/>
                  </a:lnTo>
                </a:path>
                <a:path w="1339215" h="344804">
                  <a:moveTo>
                    <a:pt x="1332737" y="0"/>
                  </a:moveTo>
                  <a:lnTo>
                    <a:pt x="1332737" y="344804"/>
                  </a:lnTo>
                </a:path>
                <a:path w="1339215" h="344804">
                  <a:moveTo>
                    <a:pt x="0" y="6350"/>
                  </a:moveTo>
                  <a:lnTo>
                    <a:pt x="1339087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61119" y="3433953"/>
              <a:ext cx="1339215" cy="0"/>
            </a:xfrm>
            <a:custGeom>
              <a:avLst/>
              <a:gdLst/>
              <a:ahLst/>
              <a:cxnLst/>
              <a:rect l="l" t="t" r="r" b="b"/>
              <a:pathLst>
                <a:path w="1339215">
                  <a:moveTo>
                    <a:pt x="0" y="0"/>
                  </a:moveTo>
                  <a:lnTo>
                    <a:pt x="133908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73819" y="3173095"/>
            <a:ext cx="13138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AOCV</a:t>
            </a:r>
            <a:r>
              <a:rPr sz="11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derates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2797" y="1181978"/>
            <a:ext cx="4713019" cy="188672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43" y="1103477"/>
            <a:ext cx="7005955" cy="37249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relies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3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observations</a:t>
            </a:r>
            <a:endParaRPr sz="1400" dirty="0">
              <a:latin typeface="Segoe UI"/>
              <a:cs typeface="Segoe UI"/>
            </a:endParaRPr>
          </a:p>
          <a:p>
            <a:pPr marL="527685" marR="694055" lvl="1" indent="-287020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Distance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When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distance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between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increase,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becomes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more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likely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they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vary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process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temperature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voltage.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Therefore,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the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distance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increases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increase</a:t>
            </a:r>
            <a:endParaRPr sz="1400" dirty="0">
              <a:latin typeface="Segoe UI"/>
              <a:cs typeface="Segoe UI"/>
            </a:endParaRPr>
          </a:p>
          <a:p>
            <a:pPr marL="527685" marR="683895" lvl="1" indent="-287020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Depth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depth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(number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path)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increases,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random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variations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tend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cancel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each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other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out.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Therefore,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depth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increases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decrease</a:t>
            </a:r>
            <a:endParaRPr sz="1400" dirty="0">
              <a:latin typeface="Segoe UI"/>
              <a:cs typeface="Segoe UI"/>
            </a:endParaRPr>
          </a:p>
          <a:p>
            <a:pPr marL="527685" lvl="1" indent="-28638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b="1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Type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behavior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depending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type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size</a:t>
            </a:r>
            <a:endParaRPr sz="1400" dirty="0">
              <a:latin typeface="Segoe UI"/>
              <a:cs typeface="Segoe UI"/>
            </a:endParaRPr>
          </a:p>
          <a:p>
            <a:pPr marL="299085" marR="422909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each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taken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from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tables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defined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inside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timing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library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files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(.lib/.db)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value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depend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distance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from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bounding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box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encloses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all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cells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depth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timing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path. </a:t>
            </a:r>
            <a:r>
              <a:rPr sz="1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Look</a:t>
            </a:r>
            <a:r>
              <a:rPr sz="1400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 </a:t>
            </a:r>
            <a:r>
              <a:rPr sz="1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at</a:t>
            </a:r>
            <a:r>
              <a:rPr sz="14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 </a:t>
            </a:r>
            <a:r>
              <a:rPr sz="1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the</a:t>
            </a:r>
            <a:r>
              <a:rPr sz="14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 </a:t>
            </a:r>
            <a:r>
              <a:rPr sz="1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next</a:t>
            </a:r>
            <a:r>
              <a:rPr sz="14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 </a:t>
            </a:r>
            <a:r>
              <a:rPr sz="14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Segoe UI"/>
                <a:cs typeface="Segoe UI"/>
              </a:rPr>
              <a:t>slide!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39E39"/>
                </a:solidFill>
                <a:latin typeface="Segoe UI"/>
                <a:cs typeface="Segoe UI"/>
              </a:rPr>
              <a:t>Pros</a:t>
            </a:r>
            <a:r>
              <a:rPr sz="1400" b="1" spc="-50" dirty="0">
                <a:solidFill>
                  <a:srgbClr val="539E39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Removes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some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pessimism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flat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ts val="154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C00000"/>
                </a:solidFill>
                <a:latin typeface="Segoe UI"/>
                <a:cs typeface="Segoe UI"/>
              </a:rPr>
              <a:t>Cons</a:t>
            </a:r>
            <a:r>
              <a:rPr sz="1400" b="1" spc="-2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endParaRPr sz="1400" dirty="0">
              <a:latin typeface="Segoe UI"/>
              <a:cs typeface="Segoe UI"/>
            </a:endParaRPr>
          </a:p>
          <a:p>
            <a:pPr marL="6277610">
              <a:lnSpc>
                <a:spcPts val="1540"/>
              </a:lnSpc>
            </a:pPr>
            <a:r>
              <a:rPr sz="1400" b="1" spc="-10" dirty="0">
                <a:latin typeface="Segoe UI"/>
                <a:cs typeface="Segoe UI"/>
              </a:rPr>
              <a:t>Distance</a:t>
            </a:r>
            <a:endParaRPr sz="1400" dirty="0">
              <a:latin typeface="Segoe UI"/>
              <a:cs typeface="Segoe U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44206" y="4045839"/>
          <a:ext cx="3657598" cy="148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Segoe UI"/>
                          <a:cs typeface="Segoe UI"/>
                        </a:rPr>
                        <a:t>5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Segoe UI"/>
                          <a:cs typeface="Segoe UI"/>
                        </a:rPr>
                        <a:t>10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Segoe UI"/>
                          <a:cs typeface="Segoe UI"/>
                        </a:rPr>
                        <a:t>20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Segoe UI"/>
                          <a:cs typeface="Segoe UI"/>
                        </a:rPr>
                        <a:t>1000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1.08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1.04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1.02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Segoe UI"/>
                          <a:cs typeface="Segoe UI"/>
                        </a:rPr>
                        <a:t>2000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1.15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1.07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1.05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Segoe UI"/>
                          <a:cs typeface="Segoe UI"/>
                        </a:rPr>
                        <a:t>3000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Segoe UI"/>
                          <a:cs typeface="Segoe UI"/>
                        </a:rPr>
                        <a:t>1.2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1.14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1.12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Segoe UI"/>
                          <a:cs typeface="Segoe UI"/>
                        </a:rPr>
                        <a:t>1.10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750556" y="3863594"/>
            <a:ext cx="3760470" cy="85725"/>
          </a:xfrm>
          <a:custGeom>
            <a:avLst/>
            <a:gdLst/>
            <a:ahLst/>
            <a:cxnLst/>
            <a:rect l="l" t="t" r="r" b="b"/>
            <a:pathLst>
              <a:path w="3760470" h="85725">
                <a:moveTo>
                  <a:pt x="3674491" y="0"/>
                </a:moveTo>
                <a:lnTo>
                  <a:pt x="3674491" y="85724"/>
                </a:lnTo>
                <a:lnTo>
                  <a:pt x="3731556" y="57149"/>
                </a:lnTo>
                <a:lnTo>
                  <a:pt x="3688715" y="57149"/>
                </a:lnTo>
                <a:lnTo>
                  <a:pt x="3688715" y="28574"/>
                </a:lnTo>
                <a:lnTo>
                  <a:pt x="3731725" y="28574"/>
                </a:lnTo>
                <a:lnTo>
                  <a:pt x="3674491" y="0"/>
                </a:lnTo>
                <a:close/>
              </a:path>
              <a:path w="3760470" h="85725">
                <a:moveTo>
                  <a:pt x="3674491" y="28574"/>
                </a:moveTo>
                <a:lnTo>
                  <a:pt x="0" y="28574"/>
                </a:lnTo>
                <a:lnTo>
                  <a:pt x="0" y="57149"/>
                </a:lnTo>
                <a:lnTo>
                  <a:pt x="3674491" y="57149"/>
                </a:lnTo>
                <a:lnTo>
                  <a:pt x="3674491" y="28574"/>
                </a:lnTo>
                <a:close/>
              </a:path>
              <a:path w="3760470" h="85725">
                <a:moveTo>
                  <a:pt x="3731725" y="28574"/>
                </a:moveTo>
                <a:lnTo>
                  <a:pt x="3688715" y="28574"/>
                </a:lnTo>
                <a:lnTo>
                  <a:pt x="3688715" y="57149"/>
                </a:lnTo>
                <a:lnTo>
                  <a:pt x="3731556" y="57149"/>
                </a:lnTo>
                <a:lnTo>
                  <a:pt x="3760216" y="42798"/>
                </a:lnTo>
                <a:lnTo>
                  <a:pt x="3731725" y="28574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65263" y="4052189"/>
            <a:ext cx="85725" cy="1483360"/>
          </a:xfrm>
          <a:custGeom>
            <a:avLst/>
            <a:gdLst/>
            <a:ahLst/>
            <a:cxnLst/>
            <a:rect l="l" t="t" r="r" b="b"/>
            <a:pathLst>
              <a:path w="85725" h="1483360">
                <a:moveTo>
                  <a:pt x="28575" y="1397635"/>
                </a:moveTo>
                <a:lnTo>
                  <a:pt x="0" y="1397635"/>
                </a:lnTo>
                <a:lnTo>
                  <a:pt x="42925" y="1483360"/>
                </a:lnTo>
                <a:lnTo>
                  <a:pt x="78623" y="1411859"/>
                </a:lnTo>
                <a:lnTo>
                  <a:pt x="28575" y="1411859"/>
                </a:lnTo>
                <a:lnTo>
                  <a:pt x="28575" y="1397635"/>
                </a:lnTo>
                <a:close/>
              </a:path>
              <a:path w="85725" h="1483360">
                <a:moveTo>
                  <a:pt x="57150" y="0"/>
                </a:moveTo>
                <a:lnTo>
                  <a:pt x="28575" y="0"/>
                </a:lnTo>
                <a:lnTo>
                  <a:pt x="28575" y="1411859"/>
                </a:lnTo>
                <a:lnTo>
                  <a:pt x="57150" y="1411859"/>
                </a:lnTo>
                <a:lnTo>
                  <a:pt x="57150" y="0"/>
                </a:lnTo>
                <a:close/>
              </a:path>
              <a:path w="85725" h="1483360">
                <a:moveTo>
                  <a:pt x="85725" y="1397635"/>
                </a:moveTo>
                <a:lnTo>
                  <a:pt x="57150" y="1397635"/>
                </a:lnTo>
                <a:lnTo>
                  <a:pt x="57150" y="1411859"/>
                </a:lnTo>
                <a:lnTo>
                  <a:pt x="78623" y="1411859"/>
                </a:lnTo>
                <a:lnTo>
                  <a:pt x="85725" y="1397635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07830" y="3636009"/>
            <a:ext cx="18770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Segoe UI"/>
                <a:cs typeface="Segoe UI"/>
              </a:rPr>
              <a:t>Depth</a:t>
            </a:r>
            <a:r>
              <a:rPr sz="1400" b="1" spc="-25" dirty="0">
                <a:latin typeface="Segoe UI"/>
                <a:cs typeface="Segoe UI"/>
              </a:rPr>
              <a:t> </a:t>
            </a:r>
            <a:r>
              <a:rPr sz="1050" dirty="0">
                <a:latin typeface="Segoe UI"/>
                <a:cs typeface="Segoe UI"/>
              </a:rPr>
              <a:t>(Decrease</a:t>
            </a:r>
            <a:r>
              <a:rPr sz="1050" spc="-45" dirty="0">
                <a:latin typeface="Segoe UI"/>
                <a:cs typeface="Segoe UI"/>
              </a:rPr>
              <a:t> </a:t>
            </a:r>
            <a:r>
              <a:rPr sz="1050" dirty="0">
                <a:latin typeface="Segoe UI"/>
                <a:cs typeface="Segoe UI"/>
              </a:rPr>
              <a:t>with</a:t>
            </a:r>
            <a:r>
              <a:rPr sz="1050" spc="-35" dirty="0">
                <a:latin typeface="Segoe UI"/>
                <a:cs typeface="Segoe UI"/>
              </a:rPr>
              <a:t> </a:t>
            </a:r>
            <a:r>
              <a:rPr sz="1050" spc="-10" dirty="0">
                <a:latin typeface="Segoe UI"/>
                <a:cs typeface="Segoe UI"/>
              </a:rPr>
              <a:t>depth)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5717" y="4801870"/>
            <a:ext cx="14014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Segoe UI"/>
                <a:cs typeface="Segoe UI"/>
              </a:rPr>
              <a:t>(Increase</a:t>
            </a:r>
            <a:r>
              <a:rPr sz="1050" spc="-35" dirty="0">
                <a:latin typeface="Segoe UI"/>
                <a:cs typeface="Segoe UI"/>
              </a:rPr>
              <a:t> </a:t>
            </a:r>
            <a:r>
              <a:rPr sz="1050" dirty="0">
                <a:latin typeface="Segoe UI"/>
                <a:cs typeface="Segoe UI"/>
              </a:rPr>
              <a:t>with</a:t>
            </a:r>
            <a:r>
              <a:rPr sz="1050" spc="-25" dirty="0">
                <a:latin typeface="Segoe UI"/>
                <a:cs typeface="Segoe UI"/>
              </a:rPr>
              <a:t> </a:t>
            </a:r>
            <a:r>
              <a:rPr sz="1050" spc="-10" dirty="0">
                <a:latin typeface="Segoe UI"/>
                <a:cs typeface="Segoe UI"/>
              </a:rPr>
              <a:t>distance)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910319" y="5607748"/>
            <a:ext cx="1511935" cy="344805"/>
            <a:chOff x="8910319" y="5607748"/>
            <a:chExt cx="1511935" cy="344805"/>
          </a:xfrm>
        </p:grpSpPr>
        <p:sp>
          <p:nvSpPr>
            <p:cNvPr id="18" name="object 18"/>
            <p:cNvSpPr/>
            <p:nvPr/>
          </p:nvSpPr>
          <p:spPr>
            <a:xfrm>
              <a:off x="8916669" y="5614111"/>
              <a:ext cx="1499235" cy="319405"/>
            </a:xfrm>
            <a:custGeom>
              <a:avLst/>
              <a:gdLst/>
              <a:ahLst/>
              <a:cxnLst/>
              <a:rect l="l" t="t" r="r" b="b"/>
              <a:pathLst>
                <a:path w="1499234" h="319404">
                  <a:moveTo>
                    <a:pt x="1499234" y="0"/>
                  </a:moveTo>
                  <a:lnTo>
                    <a:pt x="0" y="0"/>
                  </a:lnTo>
                  <a:lnTo>
                    <a:pt x="0" y="319328"/>
                  </a:lnTo>
                  <a:lnTo>
                    <a:pt x="1499234" y="319328"/>
                  </a:lnTo>
                  <a:lnTo>
                    <a:pt x="1499234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10319" y="5607748"/>
              <a:ext cx="1511935" cy="344805"/>
            </a:xfrm>
            <a:custGeom>
              <a:avLst/>
              <a:gdLst/>
              <a:ahLst/>
              <a:cxnLst/>
              <a:rect l="l" t="t" r="r" b="b"/>
              <a:pathLst>
                <a:path w="1511934" h="344804">
                  <a:moveTo>
                    <a:pt x="6350" y="0"/>
                  </a:moveTo>
                  <a:lnTo>
                    <a:pt x="6350" y="344741"/>
                  </a:lnTo>
                </a:path>
                <a:path w="1511934" h="344804">
                  <a:moveTo>
                    <a:pt x="1505584" y="0"/>
                  </a:moveTo>
                  <a:lnTo>
                    <a:pt x="1505584" y="344741"/>
                  </a:lnTo>
                </a:path>
                <a:path w="1511934" h="344804">
                  <a:moveTo>
                    <a:pt x="0" y="6350"/>
                  </a:moveTo>
                  <a:lnTo>
                    <a:pt x="1511934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10319" y="5933439"/>
              <a:ext cx="1511935" cy="0"/>
            </a:xfrm>
            <a:custGeom>
              <a:avLst/>
              <a:gdLst/>
              <a:ahLst/>
              <a:cxnLst/>
              <a:rect l="l" t="t" r="r" b="b"/>
              <a:pathLst>
                <a:path w="1511934">
                  <a:moveTo>
                    <a:pt x="0" y="0"/>
                  </a:moveTo>
                  <a:lnTo>
                    <a:pt x="151193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923019" y="5673039"/>
            <a:ext cx="14865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AOCV</a:t>
            </a:r>
            <a:r>
              <a:rPr sz="11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derates</a:t>
            </a:r>
            <a:r>
              <a:rPr sz="11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Segoe UI"/>
                <a:cs typeface="Segoe UI"/>
              </a:rPr>
              <a:t>table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Segoe UI"/>
                <a:cs typeface="Segoe UI"/>
              </a:rPr>
              <a:t>Advanced</a:t>
            </a:r>
            <a:r>
              <a:rPr b="1" spc="-80" dirty="0">
                <a:latin typeface="Segoe UI"/>
                <a:cs typeface="Segoe UI"/>
              </a:rPr>
              <a:t> </a:t>
            </a:r>
            <a:r>
              <a:rPr b="1" spc="-20" dirty="0">
                <a:latin typeface="Segoe UI"/>
                <a:cs typeface="Segoe UI"/>
              </a:rPr>
              <a:t>On-</a:t>
            </a:r>
            <a:r>
              <a:rPr b="1" dirty="0">
                <a:latin typeface="Segoe UI"/>
                <a:cs typeface="Segoe UI"/>
              </a:rPr>
              <a:t>chip</a:t>
            </a:r>
            <a:r>
              <a:rPr b="1" spc="-100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Variation</a:t>
            </a:r>
            <a:r>
              <a:rPr b="1" spc="-80" dirty="0">
                <a:latin typeface="Segoe UI"/>
                <a:cs typeface="Segoe UI"/>
              </a:rPr>
              <a:t> </a:t>
            </a:r>
            <a:r>
              <a:rPr b="1" dirty="0">
                <a:latin typeface="Segoe UI"/>
                <a:cs typeface="Segoe UI"/>
              </a:rPr>
              <a:t>(AOCV)</a:t>
            </a:r>
            <a:r>
              <a:rPr b="1" spc="-100" dirty="0">
                <a:latin typeface="Segoe UI"/>
                <a:cs typeface="Segoe UI"/>
              </a:rPr>
              <a:t> </a:t>
            </a:r>
            <a:r>
              <a:rPr b="1" dirty="0">
                <a:latin typeface="Segoe UI"/>
                <a:cs typeface="Segoe UI"/>
              </a:rPr>
              <a:t>-</a:t>
            </a:r>
            <a:r>
              <a:rPr b="1" spc="-114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Calculations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5929" y="1197406"/>
            <a:ext cx="3373754" cy="1227455"/>
            <a:chOff x="585929" y="1197406"/>
            <a:chExt cx="3373754" cy="12274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929" y="1216355"/>
              <a:ext cx="3342222" cy="1208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3087" y="1216456"/>
              <a:ext cx="3167380" cy="1189355"/>
            </a:xfrm>
            <a:custGeom>
              <a:avLst/>
              <a:gdLst/>
              <a:ahLst/>
              <a:cxnLst/>
              <a:rect l="l" t="t" r="r" b="b"/>
              <a:pathLst>
                <a:path w="3167379" h="1189355">
                  <a:moveTo>
                    <a:pt x="0" y="1189177"/>
                  </a:moveTo>
                  <a:lnTo>
                    <a:pt x="3167126" y="1189177"/>
                  </a:lnTo>
                  <a:lnTo>
                    <a:pt x="3167126" y="0"/>
                  </a:lnTo>
                  <a:lnTo>
                    <a:pt x="0" y="0"/>
                  </a:lnTo>
                  <a:lnTo>
                    <a:pt x="0" y="118917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6323" y="2567432"/>
            <a:ext cx="290576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STA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tool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creates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bounding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box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encloses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all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cells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timing </a:t>
            </a:r>
            <a:r>
              <a:rPr sz="1400" spc="-20" dirty="0">
                <a:latin typeface="Segoe UI"/>
                <a:cs typeface="Segoe UI"/>
              </a:rPr>
              <a:t>path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71948" y="2567432"/>
            <a:ext cx="311975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STA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tool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gets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derate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value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of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</a:t>
            </a:r>
            <a:r>
              <a:rPr sz="1350" baseline="24691" dirty="0">
                <a:latin typeface="Segoe UI"/>
                <a:cs typeface="Segoe UI"/>
              </a:rPr>
              <a:t>st</a:t>
            </a:r>
            <a:r>
              <a:rPr sz="1350" spc="172" baseline="24691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cell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(clock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buffer)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from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its</a:t>
            </a:r>
            <a:r>
              <a:rPr sz="1400" spc="-20" dirty="0">
                <a:latin typeface="Segoe UI"/>
                <a:cs typeface="Segoe UI"/>
              </a:rPr>
              <a:t> AOCV </a:t>
            </a:r>
            <a:r>
              <a:rPr sz="1400" spc="-10" dirty="0">
                <a:latin typeface="Segoe UI"/>
                <a:cs typeface="Segoe UI"/>
              </a:rPr>
              <a:t>tables</a:t>
            </a:r>
            <a:endParaRPr sz="1400">
              <a:latin typeface="Segoe UI"/>
              <a:cs typeface="Segoe U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748903" y="1455166"/>
          <a:ext cx="3013073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5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25" dirty="0">
                          <a:latin typeface="Segoe UI"/>
                          <a:cs typeface="Segoe UI"/>
                        </a:rPr>
                        <a:t>10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25" dirty="0">
                          <a:latin typeface="Segoe UI"/>
                          <a:cs typeface="Segoe UI"/>
                        </a:rPr>
                        <a:t>20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1.08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1.04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25" dirty="0">
                          <a:latin typeface="Segoe UI"/>
                          <a:cs typeface="Segoe UI"/>
                        </a:rPr>
                        <a:t>500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1.15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1.07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1.05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-20" dirty="0">
                          <a:latin typeface="Segoe UI"/>
                          <a:cs typeface="Segoe UI"/>
                        </a:rPr>
                        <a:t>1500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5" dirty="0">
                          <a:latin typeface="Segoe UI"/>
                          <a:cs typeface="Segoe UI"/>
                        </a:rPr>
                        <a:t>1.2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1.14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8755253" y="1272921"/>
            <a:ext cx="3013710" cy="85725"/>
          </a:xfrm>
          <a:custGeom>
            <a:avLst/>
            <a:gdLst/>
            <a:ahLst/>
            <a:cxnLst/>
            <a:rect l="l" t="t" r="r" b="b"/>
            <a:pathLst>
              <a:path w="3013709" h="85725">
                <a:moveTo>
                  <a:pt x="2927730" y="0"/>
                </a:moveTo>
                <a:lnTo>
                  <a:pt x="2927730" y="85725"/>
                </a:lnTo>
                <a:lnTo>
                  <a:pt x="2984796" y="57150"/>
                </a:lnTo>
                <a:lnTo>
                  <a:pt x="2941954" y="57150"/>
                </a:lnTo>
                <a:lnTo>
                  <a:pt x="2941954" y="28575"/>
                </a:lnTo>
                <a:lnTo>
                  <a:pt x="2984965" y="28575"/>
                </a:lnTo>
                <a:lnTo>
                  <a:pt x="2927730" y="0"/>
                </a:lnTo>
                <a:close/>
              </a:path>
              <a:path w="3013709" h="85725">
                <a:moveTo>
                  <a:pt x="292773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27730" y="57150"/>
                </a:lnTo>
                <a:lnTo>
                  <a:pt x="2927730" y="28575"/>
                </a:lnTo>
                <a:close/>
              </a:path>
              <a:path w="3013709" h="85725">
                <a:moveTo>
                  <a:pt x="2984965" y="28575"/>
                </a:moveTo>
                <a:lnTo>
                  <a:pt x="2941954" y="28575"/>
                </a:lnTo>
                <a:lnTo>
                  <a:pt x="2941954" y="57150"/>
                </a:lnTo>
                <a:lnTo>
                  <a:pt x="2984796" y="57150"/>
                </a:lnTo>
                <a:lnTo>
                  <a:pt x="3013455" y="42799"/>
                </a:lnTo>
                <a:lnTo>
                  <a:pt x="2984965" y="28575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69959" y="1461516"/>
            <a:ext cx="85725" cy="1219200"/>
          </a:xfrm>
          <a:custGeom>
            <a:avLst/>
            <a:gdLst/>
            <a:ahLst/>
            <a:cxnLst/>
            <a:rect l="l" t="t" r="r" b="b"/>
            <a:pathLst>
              <a:path w="85725" h="1219200">
                <a:moveTo>
                  <a:pt x="28575" y="1133475"/>
                </a:moveTo>
                <a:lnTo>
                  <a:pt x="0" y="1133475"/>
                </a:lnTo>
                <a:lnTo>
                  <a:pt x="42799" y="1219200"/>
                </a:lnTo>
                <a:lnTo>
                  <a:pt x="78602" y="1147699"/>
                </a:lnTo>
                <a:lnTo>
                  <a:pt x="28575" y="1147699"/>
                </a:lnTo>
                <a:lnTo>
                  <a:pt x="28575" y="1133475"/>
                </a:lnTo>
                <a:close/>
              </a:path>
              <a:path w="85725" h="1219200">
                <a:moveTo>
                  <a:pt x="57150" y="0"/>
                </a:moveTo>
                <a:lnTo>
                  <a:pt x="28575" y="0"/>
                </a:lnTo>
                <a:lnTo>
                  <a:pt x="28575" y="1147699"/>
                </a:lnTo>
                <a:lnTo>
                  <a:pt x="57150" y="1147699"/>
                </a:lnTo>
                <a:lnTo>
                  <a:pt x="57150" y="0"/>
                </a:lnTo>
                <a:close/>
              </a:path>
              <a:path w="85725" h="1219200">
                <a:moveTo>
                  <a:pt x="85725" y="1133475"/>
                </a:moveTo>
                <a:lnTo>
                  <a:pt x="57150" y="1133475"/>
                </a:lnTo>
                <a:lnTo>
                  <a:pt x="57150" y="1147699"/>
                </a:lnTo>
                <a:lnTo>
                  <a:pt x="78602" y="1147699"/>
                </a:lnTo>
                <a:lnTo>
                  <a:pt x="85725" y="1133475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45445" y="1067815"/>
            <a:ext cx="4311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latin typeface="Segoe UI"/>
                <a:cs typeface="Segoe UI"/>
              </a:rPr>
              <a:t>Depth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7853" y="1969135"/>
            <a:ext cx="5892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Segoe UI"/>
                <a:cs typeface="Segoe UI"/>
              </a:rPr>
              <a:t>Distance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01035" y="1201470"/>
            <a:ext cx="3374390" cy="1227455"/>
            <a:chOff x="4401035" y="1201470"/>
            <a:chExt cx="3374390" cy="12274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1035" y="1216355"/>
              <a:ext cx="3342222" cy="12083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89017" y="1220520"/>
              <a:ext cx="3167380" cy="1189355"/>
            </a:xfrm>
            <a:custGeom>
              <a:avLst/>
              <a:gdLst/>
              <a:ahLst/>
              <a:cxnLst/>
              <a:rect l="l" t="t" r="r" b="b"/>
              <a:pathLst>
                <a:path w="3167379" h="1189355">
                  <a:moveTo>
                    <a:pt x="0" y="1189177"/>
                  </a:moveTo>
                  <a:lnTo>
                    <a:pt x="3167126" y="1189177"/>
                  </a:lnTo>
                  <a:lnTo>
                    <a:pt x="3167126" y="0"/>
                  </a:lnTo>
                  <a:lnTo>
                    <a:pt x="0" y="0"/>
                  </a:lnTo>
                  <a:lnTo>
                    <a:pt x="0" y="118917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8100" y="2075814"/>
              <a:ext cx="203453" cy="8572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06400" y="2538552"/>
            <a:ext cx="265430" cy="3079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400" b="1" spc="-50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77054" y="2538552"/>
            <a:ext cx="265430" cy="3079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400" b="1" spc="-50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0735" y="5079872"/>
            <a:ext cx="297624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STA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tool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gets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derate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value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of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</a:t>
            </a:r>
            <a:r>
              <a:rPr sz="1350" baseline="24691" dirty="0">
                <a:latin typeface="Segoe UI"/>
                <a:cs typeface="Segoe UI"/>
              </a:rPr>
              <a:t>nd</a:t>
            </a:r>
            <a:r>
              <a:rPr sz="1350" spc="157" baseline="24691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cell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(FF)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from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its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AOCV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tables. </a:t>
            </a:r>
            <a:r>
              <a:rPr sz="1400" dirty="0">
                <a:latin typeface="Segoe UI"/>
                <a:cs typeface="Segoe UI"/>
              </a:rPr>
              <a:t>Since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distance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(200)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is not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the </a:t>
            </a:r>
            <a:r>
              <a:rPr sz="1400" dirty="0">
                <a:latin typeface="Segoe UI"/>
                <a:cs typeface="Segoe UI"/>
              </a:rPr>
              <a:t>table,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tool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will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do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interpolation</a:t>
            </a:r>
            <a:endParaRPr sz="1400">
              <a:latin typeface="Segoe UI"/>
              <a:cs typeface="Segoe U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778121" y="3966845"/>
          <a:ext cx="3013073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3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4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50" dirty="0">
                          <a:latin typeface="Segoe UI"/>
                          <a:cs typeface="Segoe UI"/>
                        </a:rPr>
                        <a:t>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5" dirty="0">
                          <a:latin typeface="Segoe UI"/>
                          <a:cs typeface="Segoe UI"/>
                        </a:rPr>
                        <a:t>1.1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1.08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1.06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25" dirty="0">
                          <a:latin typeface="Segoe UI"/>
                          <a:cs typeface="Segoe UI"/>
                        </a:rPr>
                        <a:t>500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1.13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1.12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1.11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1.08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20" dirty="0">
                          <a:latin typeface="Segoe UI"/>
                          <a:cs typeface="Segoe UI"/>
                        </a:rPr>
                        <a:t>1500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1.15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1.14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1.13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20" dirty="0">
                          <a:latin typeface="Segoe UI"/>
                          <a:cs typeface="Segoe UI"/>
                        </a:rPr>
                        <a:t>1.09</a:t>
                      </a:r>
                      <a:endParaRPr sz="140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4784471" y="3784727"/>
            <a:ext cx="3013710" cy="85725"/>
          </a:xfrm>
          <a:custGeom>
            <a:avLst/>
            <a:gdLst/>
            <a:ahLst/>
            <a:cxnLst/>
            <a:rect l="l" t="t" r="r" b="b"/>
            <a:pathLst>
              <a:path w="3013709" h="85725">
                <a:moveTo>
                  <a:pt x="2927857" y="0"/>
                </a:moveTo>
                <a:lnTo>
                  <a:pt x="2927857" y="85725"/>
                </a:lnTo>
                <a:lnTo>
                  <a:pt x="2984923" y="57150"/>
                </a:lnTo>
                <a:lnTo>
                  <a:pt x="2942081" y="57150"/>
                </a:lnTo>
                <a:lnTo>
                  <a:pt x="2942081" y="28575"/>
                </a:lnTo>
                <a:lnTo>
                  <a:pt x="2985092" y="28575"/>
                </a:lnTo>
                <a:lnTo>
                  <a:pt x="2927857" y="0"/>
                </a:lnTo>
                <a:close/>
              </a:path>
              <a:path w="3013709" h="85725">
                <a:moveTo>
                  <a:pt x="2927857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927857" y="57150"/>
                </a:lnTo>
                <a:lnTo>
                  <a:pt x="2927857" y="28575"/>
                </a:lnTo>
                <a:close/>
              </a:path>
              <a:path w="3013709" h="85725">
                <a:moveTo>
                  <a:pt x="2985092" y="28575"/>
                </a:moveTo>
                <a:lnTo>
                  <a:pt x="2942081" y="28575"/>
                </a:lnTo>
                <a:lnTo>
                  <a:pt x="2942081" y="57150"/>
                </a:lnTo>
                <a:lnTo>
                  <a:pt x="2984923" y="57150"/>
                </a:lnTo>
                <a:lnTo>
                  <a:pt x="3013582" y="42799"/>
                </a:lnTo>
                <a:lnTo>
                  <a:pt x="2985092" y="28575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99178" y="3973195"/>
            <a:ext cx="85725" cy="1219200"/>
          </a:xfrm>
          <a:custGeom>
            <a:avLst/>
            <a:gdLst/>
            <a:ahLst/>
            <a:cxnLst/>
            <a:rect l="l" t="t" r="r" b="b"/>
            <a:pathLst>
              <a:path w="85725" h="1219200">
                <a:moveTo>
                  <a:pt x="28575" y="1133474"/>
                </a:moveTo>
                <a:lnTo>
                  <a:pt x="0" y="1133474"/>
                </a:lnTo>
                <a:lnTo>
                  <a:pt x="42925" y="1219199"/>
                </a:lnTo>
                <a:lnTo>
                  <a:pt x="78560" y="1147825"/>
                </a:lnTo>
                <a:lnTo>
                  <a:pt x="28575" y="1147825"/>
                </a:lnTo>
                <a:lnTo>
                  <a:pt x="28575" y="1133474"/>
                </a:lnTo>
                <a:close/>
              </a:path>
              <a:path w="85725" h="1219200">
                <a:moveTo>
                  <a:pt x="57150" y="0"/>
                </a:moveTo>
                <a:lnTo>
                  <a:pt x="28575" y="0"/>
                </a:lnTo>
                <a:lnTo>
                  <a:pt x="28575" y="1147825"/>
                </a:lnTo>
                <a:lnTo>
                  <a:pt x="57150" y="1147825"/>
                </a:lnTo>
                <a:lnTo>
                  <a:pt x="57150" y="0"/>
                </a:lnTo>
                <a:close/>
              </a:path>
              <a:path w="85725" h="1219200">
                <a:moveTo>
                  <a:pt x="85725" y="1133474"/>
                </a:moveTo>
                <a:lnTo>
                  <a:pt x="57150" y="1133474"/>
                </a:lnTo>
                <a:lnTo>
                  <a:pt x="57150" y="1147825"/>
                </a:lnTo>
                <a:lnTo>
                  <a:pt x="78560" y="1147825"/>
                </a:lnTo>
                <a:lnTo>
                  <a:pt x="85725" y="1133474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74155" y="3580257"/>
            <a:ext cx="4311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latin typeface="Segoe UI"/>
                <a:cs typeface="Segoe UI"/>
              </a:rPr>
              <a:t>Depth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6690" y="4481017"/>
            <a:ext cx="58928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Segoe UI"/>
                <a:cs typeface="Segoe UI"/>
              </a:rPr>
              <a:t>Distance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0291" y="3728161"/>
            <a:ext cx="3342640" cy="1208405"/>
            <a:chOff x="430291" y="3728161"/>
            <a:chExt cx="3342640" cy="120840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291" y="3728161"/>
              <a:ext cx="3342222" cy="120835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6650" y="4031614"/>
              <a:ext cx="676910" cy="774700"/>
            </a:xfrm>
            <a:custGeom>
              <a:avLst/>
              <a:gdLst/>
              <a:ahLst/>
              <a:cxnLst/>
              <a:rect l="l" t="t" r="r" b="b"/>
              <a:pathLst>
                <a:path w="676910" h="774700">
                  <a:moveTo>
                    <a:pt x="609698" y="55341"/>
                  </a:moveTo>
                  <a:lnTo>
                    <a:pt x="0" y="755396"/>
                  </a:lnTo>
                  <a:lnTo>
                    <a:pt x="21539" y="774192"/>
                  </a:lnTo>
                  <a:lnTo>
                    <a:pt x="631248" y="74097"/>
                  </a:lnTo>
                  <a:lnTo>
                    <a:pt x="609698" y="55341"/>
                  </a:lnTo>
                  <a:close/>
                </a:path>
                <a:path w="676910" h="774700">
                  <a:moveTo>
                    <a:pt x="665257" y="44577"/>
                  </a:moveTo>
                  <a:lnTo>
                    <a:pt x="619074" y="44577"/>
                  </a:lnTo>
                  <a:lnTo>
                    <a:pt x="640587" y="63373"/>
                  </a:lnTo>
                  <a:lnTo>
                    <a:pt x="631248" y="74097"/>
                  </a:lnTo>
                  <a:lnTo>
                    <a:pt x="652780" y="92837"/>
                  </a:lnTo>
                  <a:lnTo>
                    <a:pt x="665257" y="44577"/>
                  </a:lnTo>
                  <a:close/>
                </a:path>
                <a:path w="676910" h="774700">
                  <a:moveTo>
                    <a:pt x="619074" y="44577"/>
                  </a:moveTo>
                  <a:lnTo>
                    <a:pt x="609698" y="55341"/>
                  </a:lnTo>
                  <a:lnTo>
                    <a:pt x="631248" y="74097"/>
                  </a:lnTo>
                  <a:lnTo>
                    <a:pt x="640587" y="63373"/>
                  </a:lnTo>
                  <a:lnTo>
                    <a:pt x="619074" y="44577"/>
                  </a:lnTo>
                  <a:close/>
                </a:path>
                <a:path w="676910" h="774700">
                  <a:moveTo>
                    <a:pt x="676783" y="0"/>
                  </a:moveTo>
                  <a:lnTo>
                    <a:pt x="588136" y="36576"/>
                  </a:lnTo>
                  <a:lnTo>
                    <a:pt x="609698" y="55341"/>
                  </a:lnTo>
                  <a:lnTo>
                    <a:pt x="619074" y="44577"/>
                  </a:lnTo>
                  <a:lnTo>
                    <a:pt x="665257" y="44577"/>
                  </a:lnTo>
                  <a:lnTo>
                    <a:pt x="67678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6400" y="5050231"/>
            <a:ext cx="265430" cy="3079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400" b="1" spc="-5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46081" y="2776994"/>
            <a:ext cx="1431925" cy="261620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Buffer</a:t>
            </a:r>
            <a:r>
              <a:rPr sz="11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AOCV</a:t>
            </a:r>
            <a:r>
              <a:rPr sz="11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Segoe UI"/>
                <a:cs typeface="Segoe UI"/>
              </a:rPr>
              <a:t>Table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0046" y="5229872"/>
            <a:ext cx="1162685" cy="261620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FF</a:t>
            </a:r>
            <a:r>
              <a:rPr sz="1100" b="1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AOCV</a:t>
            </a:r>
            <a:r>
              <a:rPr sz="11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Table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39073" y="4343272"/>
            <a:ext cx="736600" cy="13970"/>
          </a:xfrm>
          <a:custGeom>
            <a:avLst/>
            <a:gdLst/>
            <a:ahLst/>
            <a:cxnLst/>
            <a:rect l="l" t="t" r="r" b="b"/>
            <a:pathLst>
              <a:path w="736600" h="13970">
                <a:moveTo>
                  <a:pt x="736092" y="0"/>
                </a:moveTo>
                <a:lnTo>
                  <a:pt x="0" y="0"/>
                </a:lnTo>
                <a:lnTo>
                  <a:pt x="0" y="13715"/>
                </a:lnTo>
                <a:lnTo>
                  <a:pt x="736092" y="13715"/>
                </a:lnTo>
                <a:lnTo>
                  <a:pt x="7360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341866" y="4343272"/>
            <a:ext cx="1001394" cy="13970"/>
          </a:xfrm>
          <a:custGeom>
            <a:avLst/>
            <a:gdLst/>
            <a:ahLst/>
            <a:cxnLst/>
            <a:rect l="l" t="t" r="r" b="b"/>
            <a:pathLst>
              <a:path w="1001395" h="13970">
                <a:moveTo>
                  <a:pt x="1001267" y="0"/>
                </a:moveTo>
                <a:lnTo>
                  <a:pt x="0" y="0"/>
                </a:lnTo>
                <a:lnTo>
                  <a:pt x="0" y="13715"/>
                </a:lnTo>
                <a:lnTo>
                  <a:pt x="1001267" y="13715"/>
                </a:lnTo>
                <a:lnTo>
                  <a:pt x="10012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327517" y="4038727"/>
            <a:ext cx="202946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565"/>
              </a:lnSpc>
              <a:spcBef>
                <a:spcPts val="95"/>
              </a:spcBef>
              <a:tabLst>
                <a:tab pos="1002665" algn="l"/>
              </a:tabLst>
            </a:pPr>
            <a:r>
              <a:rPr sz="1600" dirty="0">
                <a:latin typeface="Cambria Math"/>
                <a:cs typeface="Cambria Math"/>
              </a:rPr>
              <a:t>𝑥</a:t>
            </a:r>
            <a:r>
              <a:rPr sz="1600" spc="4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1.10</a:t>
            </a:r>
            <a:r>
              <a:rPr sz="1600" dirty="0">
                <a:latin typeface="Cambria Math"/>
                <a:cs typeface="Cambria Math"/>
              </a:rPr>
              <a:t>	1.12</a:t>
            </a:r>
            <a:r>
              <a:rPr sz="1600" spc="-3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1.10</a:t>
            </a:r>
            <a:endParaRPr sz="1600">
              <a:latin typeface="Cambria Math"/>
              <a:cs typeface="Cambria Math"/>
            </a:endParaRPr>
          </a:p>
          <a:p>
            <a:pPr marR="256540" algn="ctr">
              <a:lnSpc>
                <a:spcPts val="1140"/>
              </a:lnSpc>
            </a:pPr>
            <a:r>
              <a:rPr sz="1600" spc="-50" dirty="0">
                <a:latin typeface="Cambria Math"/>
                <a:cs typeface="Cambria Math"/>
              </a:rPr>
              <a:t>=</a:t>
            </a:r>
            <a:endParaRPr sz="1600">
              <a:latin typeface="Cambria Math"/>
              <a:cs typeface="Cambria Math"/>
            </a:endParaRPr>
          </a:p>
          <a:p>
            <a:pPr marR="125095" algn="ctr">
              <a:lnSpc>
                <a:spcPts val="1495"/>
              </a:lnSpc>
              <a:tabLst>
                <a:tab pos="1134745" algn="l"/>
              </a:tabLst>
            </a:pPr>
            <a:r>
              <a:rPr sz="1600" dirty="0">
                <a:latin typeface="Cambria Math"/>
                <a:cs typeface="Cambria Math"/>
              </a:rPr>
              <a:t>200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0</a:t>
            </a:r>
            <a:r>
              <a:rPr sz="1600" dirty="0">
                <a:latin typeface="Cambria Math"/>
                <a:cs typeface="Cambria Math"/>
              </a:rPr>
              <a:t>	500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6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8894444" y="4810125"/>
            <a:ext cx="897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/>
                <a:cs typeface="Cambria Math"/>
              </a:rPr>
              <a:t>𝑥</a:t>
            </a:r>
            <a:r>
              <a:rPr sz="1600" spc="12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1.108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7435" y="3728135"/>
            <a:ext cx="3167380" cy="118935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400">
              <a:latin typeface="Times New Roman"/>
              <a:cs typeface="Times New Roman"/>
            </a:endParaRPr>
          </a:p>
          <a:p>
            <a:pPr marL="772160">
              <a:lnSpc>
                <a:spcPct val="100000"/>
              </a:lnSpc>
            </a:pPr>
            <a:r>
              <a:rPr sz="1400" b="1" spc="-25" dirty="0">
                <a:solidFill>
                  <a:srgbClr val="FF0000"/>
                </a:solidFill>
                <a:latin typeface="Segoe UI"/>
                <a:cs typeface="Segoe UI"/>
              </a:rPr>
              <a:t>200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443" y="111667"/>
            <a:ext cx="105156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Segoe UI"/>
                <a:cs typeface="Segoe UI"/>
              </a:rPr>
              <a:t>Parametric</a:t>
            </a:r>
            <a:r>
              <a:rPr b="1" spc="-65" dirty="0">
                <a:latin typeface="Segoe UI"/>
                <a:cs typeface="Segoe UI"/>
              </a:rPr>
              <a:t> </a:t>
            </a:r>
            <a:r>
              <a:rPr b="1" spc="-25" dirty="0">
                <a:latin typeface="Segoe UI"/>
                <a:cs typeface="Segoe UI"/>
              </a:rPr>
              <a:t>On-</a:t>
            </a:r>
            <a:r>
              <a:rPr b="1" dirty="0">
                <a:latin typeface="Segoe UI"/>
                <a:cs typeface="Segoe UI"/>
              </a:rPr>
              <a:t>chip</a:t>
            </a:r>
            <a:r>
              <a:rPr b="1" spc="-65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Variation</a:t>
            </a:r>
            <a:r>
              <a:rPr b="1" spc="-65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(POCV)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443" y="1179068"/>
            <a:ext cx="6626225" cy="4279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239395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considers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random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variable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with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𝝁</a:t>
            </a:r>
            <a:r>
              <a:rPr sz="1400" spc="5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standard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deviation</a:t>
            </a:r>
            <a:r>
              <a:rPr sz="1400" spc="-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Cambria Math"/>
                <a:cs typeface="Cambria Math"/>
              </a:rPr>
              <a:t>𝝈</a:t>
            </a:r>
            <a:endParaRPr sz="1400">
              <a:latin typeface="Cambria Math"/>
              <a:cs typeface="Cambria Math"/>
            </a:endParaRPr>
          </a:p>
          <a:p>
            <a:pPr marL="299085" marR="5080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Using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𝜎</a:t>
            </a:r>
            <a:r>
              <a:rPr sz="1400" spc="10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±1</a:t>
            </a:r>
            <a:r>
              <a:rPr sz="1400" spc="6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there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68.26%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probability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delay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fall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within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range</a:t>
            </a:r>
            <a:endParaRPr sz="1400">
              <a:latin typeface="Segoe UI"/>
              <a:cs typeface="Segoe UI"/>
            </a:endParaRPr>
          </a:p>
          <a:p>
            <a:pPr marL="299085" marR="69850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STA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tools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usually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use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deviation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𝜎</a:t>
            </a:r>
            <a:r>
              <a:rPr sz="1400" spc="9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1400" spc="6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3</a:t>
            </a:r>
            <a:r>
              <a:rPr sz="1400" spc="5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have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more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accurate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but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the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designer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select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whatever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fits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his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requirements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delay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endParaRPr sz="1400">
              <a:latin typeface="Segoe UI"/>
              <a:cs typeface="Segoe UI"/>
            </a:endParaRPr>
          </a:p>
          <a:p>
            <a:pPr marL="527685" lvl="1" indent="-28638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+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3𝜎</a:t>
            </a:r>
            <a:r>
              <a:rPr sz="1400" spc="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late</a:t>
            </a:r>
            <a:r>
              <a:rPr sz="1400" b="1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endParaRPr sz="1400">
              <a:latin typeface="Segoe UI"/>
              <a:cs typeface="Segoe UI"/>
            </a:endParaRPr>
          </a:p>
          <a:p>
            <a:pPr marL="527685" lvl="1" indent="-28638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–</a:t>
            </a:r>
            <a:r>
              <a:rPr sz="1400" b="1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Cambria Math"/>
                <a:cs typeface="Cambria Math"/>
              </a:rPr>
              <a:t>3𝜎</a:t>
            </a:r>
            <a:r>
              <a:rPr sz="1400" spc="9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early</a:t>
            </a:r>
            <a:r>
              <a:rPr sz="1400" b="1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endParaRPr sz="1400">
              <a:latin typeface="Segoe UI"/>
              <a:cs typeface="Segoe UI"/>
            </a:endParaRPr>
          </a:p>
          <a:p>
            <a:pPr marL="299085" marR="299720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deviation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are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defined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inside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timing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library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each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cell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and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sometimes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deviation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stored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different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file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(.pocv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file)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539E39"/>
                </a:solidFill>
                <a:latin typeface="Segoe UI"/>
                <a:cs typeface="Segoe UI"/>
              </a:rPr>
              <a:t>Pros</a:t>
            </a:r>
            <a:r>
              <a:rPr sz="1400" b="1" spc="-60" dirty="0">
                <a:solidFill>
                  <a:srgbClr val="539E39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Removes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pessimism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AOCV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C00000"/>
                </a:solidFill>
                <a:latin typeface="Segoe UI"/>
                <a:cs typeface="Segoe UI"/>
              </a:rPr>
              <a:t>Cons</a:t>
            </a:r>
            <a:r>
              <a:rPr sz="1400" b="1" spc="-2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:</a:t>
            </a:r>
            <a:endParaRPr sz="1400">
              <a:latin typeface="Segoe UI"/>
              <a:cs typeface="Segoe UI"/>
            </a:endParaRPr>
          </a:p>
          <a:p>
            <a:pPr marL="527685" lvl="1" indent="-286385">
              <a:lnSpc>
                <a:spcPct val="100000"/>
              </a:lnSpc>
              <a:spcBef>
                <a:spcPts val="600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Requires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additional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tables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derates</a:t>
            </a:r>
            <a:endParaRPr sz="1400">
              <a:latin typeface="Segoe UI"/>
              <a:cs typeface="Segoe UI"/>
            </a:endParaRPr>
          </a:p>
          <a:p>
            <a:pPr marL="527685" lvl="1" indent="-286385">
              <a:lnSpc>
                <a:spcPct val="100000"/>
              </a:lnSpc>
              <a:spcBef>
                <a:spcPts val="605"/>
              </a:spcBef>
              <a:buFont typeface="Courier New"/>
              <a:buChar char="o"/>
              <a:tabLst>
                <a:tab pos="5276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Higher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runtime</a:t>
            </a:r>
            <a:endParaRPr sz="1400">
              <a:latin typeface="Segoe UI"/>
              <a:cs typeface="Segoe U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approach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used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for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low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tech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nodes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(&lt;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40nm).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96247" y="4243451"/>
            <a:ext cx="1377315" cy="357505"/>
            <a:chOff x="9096247" y="4243451"/>
            <a:chExt cx="1377315" cy="357505"/>
          </a:xfrm>
        </p:grpSpPr>
        <p:sp>
          <p:nvSpPr>
            <p:cNvPr id="5" name="object 5"/>
            <p:cNvSpPr/>
            <p:nvPr/>
          </p:nvSpPr>
          <p:spPr>
            <a:xfrm>
              <a:off x="9121647" y="4256100"/>
              <a:ext cx="1326515" cy="319405"/>
            </a:xfrm>
            <a:custGeom>
              <a:avLst/>
              <a:gdLst/>
              <a:ahLst/>
              <a:cxnLst/>
              <a:rect l="l" t="t" r="r" b="b"/>
              <a:pathLst>
                <a:path w="1326515" h="319404">
                  <a:moveTo>
                    <a:pt x="1326388" y="0"/>
                  </a:moveTo>
                  <a:lnTo>
                    <a:pt x="0" y="0"/>
                  </a:lnTo>
                  <a:lnTo>
                    <a:pt x="0" y="319328"/>
                  </a:lnTo>
                  <a:lnTo>
                    <a:pt x="1326388" y="319328"/>
                  </a:lnTo>
                  <a:lnTo>
                    <a:pt x="1326388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15297" y="4249801"/>
              <a:ext cx="1339215" cy="344805"/>
            </a:xfrm>
            <a:custGeom>
              <a:avLst/>
              <a:gdLst/>
              <a:ahLst/>
              <a:cxnLst/>
              <a:rect l="l" t="t" r="r" b="b"/>
              <a:pathLst>
                <a:path w="1339215" h="344804">
                  <a:moveTo>
                    <a:pt x="6350" y="0"/>
                  </a:moveTo>
                  <a:lnTo>
                    <a:pt x="6350" y="344678"/>
                  </a:lnTo>
                </a:path>
                <a:path w="1339215" h="344804">
                  <a:moveTo>
                    <a:pt x="1332737" y="0"/>
                  </a:moveTo>
                  <a:lnTo>
                    <a:pt x="1332737" y="344678"/>
                  </a:lnTo>
                </a:path>
                <a:path w="1339215" h="344804">
                  <a:moveTo>
                    <a:pt x="0" y="6350"/>
                  </a:moveTo>
                  <a:lnTo>
                    <a:pt x="1339087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15297" y="4575429"/>
              <a:ext cx="1339215" cy="0"/>
            </a:xfrm>
            <a:custGeom>
              <a:avLst/>
              <a:gdLst/>
              <a:ahLst/>
              <a:cxnLst/>
              <a:rect l="l" t="t" r="r" b="b"/>
              <a:pathLst>
                <a:path w="1339215">
                  <a:moveTo>
                    <a:pt x="0" y="0"/>
                  </a:moveTo>
                  <a:lnTo>
                    <a:pt x="133908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27997" y="4314825"/>
            <a:ext cx="13138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Segoe UI"/>
                <a:cs typeface="Segoe UI"/>
              </a:rPr>
              <a:t>POCV</a:t>
            </a:r>
            <a:r>
              <a:rPr sz="11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Segoe UI"/>
                <a:cs typeface="Segoe UI"/>
              </a:rPr>
              <a:t>derates</a:t>
            </a:r>
            <a:endParaRPr sz="11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641" y="916813"/>
            <a:ext cx="3899916" cy="31701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141" y="444337"/>
            <a:ext cx="105156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Segoe UI"/>
                <a:cs typeface="Segoe UI"/>
              </a:rPr>
              <a:t>Parametric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spc="-20" dirty="0">
                <a:latin typeface="Segoe UI"/>
                <a:cs typeface="Segoe UI"/>
              </a:rPr>
              <a:t>On-</a:t>
            </a:r>
            <a:r>
              <a:rPr sz="2000" b="1" dirty="0">
                <a:latin typeface="Segoe UI"/>
                <a:cs typeface="Segoe UI"/>
              </a:rPr>
              <a:t>chip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Variation</a:t>
            </a:r>
            <a:r>
              <a:rPr sz="2000" b="1" spc="-80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(POCV)</a:t>
            </a:r>
            <a:r>
              <a:rPr sz="2000" b="1" spc="-75" dirty="0">
                <a:latin typeface="Segoe UI"/>
                <a:cs typeface="Segoe UI"/>
              </a:rPr>
              <a:t> </a:t>
            </a:r>
            <a:r>
              <a:rPr sz="2000" b="1" dirty="0">
                <a:latin typeface="Segoe UI"/>
                <a:cs typeface="Segoe UI"/>
              </a:rPr>
              <a:t>-</a:t>
            </a:r>
            <a:r>
              <a:rPr sz="2000" b="1" spc="-105" dirty="0">
                <a:latin typeface="Segoe UI"/>
                <a:cs typeface="Segoe UI"/>
              </a:rPr>
              <a:t> </a:t>
            </a:r>
            <a:r>
              <a:rPr sz="2000" b="1" spc="-10" dirty="0">
                <a:latin typeface="Segoe UI"/>
                <a:cs typeface="Segoe UI"/>
              </a:rPr>
              <a:t>Calculations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414" y="4280534"/>
            <a:ext cx="3859911" cy="15746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83118" y="1181417"/>
            <a:ext cx="1884680" cy="2444115"/>
            <a:chOff x="1583118" y="1181417"/>
            <a:chExt cx="1884680" cy="24441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2706" y="1191006"/>
              <a:ext cx="1865375" cy="24250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87880" y="1186180"/>
              <a:ext cx="1875155" cy="2434590"/>
            </a:xfrm>
            <a:custGeom>
              <a:avLst/>
              <a:gdLst/>
              <a:ahLst/>
              <a:cxnLst/>
              <a:rect l="l" t="t" r="r" b="b"/>
              <a:pathLst>
                <a:path w="1875154" h="2434590">
                  <a:moveTo>
                    <a:pt x="0" y="2434590"/>
                  </a:moveTo>
                  <a:lnTo>
                    <a:pt x="1874900" y="2434590"/>
                  </a:lnTo>
                  <a:lnTo>
                    <a:pt x="1874900" y="0"/>
                  </a:lnTo>
                  <a:lnTo>
                    <a:pt x="0" y="0"/>
                  </a:lnTo>
                  <a:lnTo>
                    <a:pt x="0" y="243459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7767" y="3223005"/>
            <a:ext cx="4095749" cy="263220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311526" y="3734434"/>
            <a:ext cx="427990" cy="427990"/>
            <a:chOff x="2311526" y="3734434"/>
            <a:chExt cx="427990" cy="427990"/>
          </a:xfrm>
        </p:grpSpPr>
        <p:sp>
          <p:nvSpPr>
            <p:cNvPr id="9" name="object 9"/>
            <p:cNvSpPr/>
            <p:nvPr/>
          </p:nvSpPr>
          <p:spPr>
            <a:xfrm>
              <a:off x="2317877" y="3741419"/>
              <a:ext cx="415290" cy="415290"/>
            </a:xfrm>
            <a:custGeom>
              <a:avLst/>
              <a:gdLst/>
              <a:ahLst/>
              <a:cxnLst/>
              <a:rect l="l" t="t" r="r" b="b"/>
              <a:pathLst>
                <a:path w="415289" h="415289">
                  <a:moveTo>
                    <a:pt x="415290" y="163830"/>
                  </a:moveTo>
                  <a:lnTo>
                    <a:pt x="250444" y="163830"/>
                  </a:lnTo>
                  <a:lnTo>
                    <a:pt x="250444" y="0"/>
                  </a:lnTo>
                  <a:lnTo>
                    <a:pt x="164846" y="0"/>
                  </a:lnTo>
                  <a:lnTo>
                    <a:pt x="164846" y="163830"/>
                  </a:lnTo>
                  <a:lnTo>
                    <a:pt x="0" y="163830"/>
                  </a:lnTo>
                  <a:lnTo>
                    <a:pt x="0" y="250190"/>
                  </a:lnTo>
                  <a:lnTo>
                    <a:pt x="164846" y="250190"/>
                  </a:lnTo>
                  <a:lnTo>
                    <a:pt x="164846" y="415290"/>
                  </a:lnTo>
                  <a:lnTo>
                    <a:pt x="250444" y="415290"/>
                  </a:lnTo>
                  <a:lnTo>
                    <a:pt x="250444" y="250190"/>
                  </a:lnTo>
                  <a:lnTo>
                    <a:pt x="415290" y="250190"/>
                  </a:lnTo>
                  <a:lnTo>
                    <a:pt x="415290" y="1638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17876" y="3740784"/>
              <a:ext cx="415290" cy="415290"/>
            </a:xfrm>
            <a:custGeom>
              <a:avLst/>
              <a:gdLst/>
              <a:ahLst/>
              <a:cxnLst/>
              <a:rect l="l" t="t" r="r" b="b"/>
              <a:pathLst>
                <a:path w="415289" h="415289">
                  <a:moveTo>
                    <a:pt x="0" y="164845"/>
                  </a:moveTo>
                  <a:lnTo>
                    <a:pt x="164846" y="164845"/>
                  </a:lnTo>
                  <a:lnTo>
                    <a:pt x="164846" y="0"/>
                  </a:lnTo>
                  <a:lnTo>
                    <a:pt x="250444" y="0"/>
                  </a:lnTo>
                  <a:lnTo>
                    <a:pt x="250444" y="164845"/>
                  </a:lnTo>
                  <a:lnTo>
                    <a:pt x="415290" y="164845"/>
                  </a:lnTo>
                  <a:lnTo>
                    <a:pt x="415290" y="250444"/>
                  </a:lnTo>
                  <a:lnTo>
                    <a:pt x="250444" y="250444"/>
                  </a:lnTo>
                  <a:lnTo>
                    <a:pt x="250444" y="415289"/>
                  </a:lnTo>
                  <a:lnTo>
                    <a:pt x="164846" y="415289"/>
                  </a:lnTo>
                  <a:lnTo>
                    <a:pt x="164846" y="250444"/>
                  </a:lnTo>
                  <a:lnTo>
                    <a:pt x="0" y="250444"/>
                  </a:lnTo>
                  <a:lnTo>
                    <a:pt x="0" y="1648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108066" y="3786632"/>
            <a:ext cx="385445" cy="118745"/>
            <a:chOff x="5108066" y="3786632"/>
            <a:chExt cx="385445" cy="118745"/>
          </a:xfrm>
        </p:grpSpPr>
        <p:sp>
          <p:nvSpPr>
            <p:cNvPr id="12" name="object 12"/>
            <p:cNvSpPr/>
            <p:nvPr/>
          </p:nvSpPr>
          <p:spPr>
            <a:xfrm>
              <a:off x="5114416" y="3792982"/>
              <a:ext cx="372745" cy="106045"/>
            </a:xfrm>
            <a:custGeom>
              <a:avLst/>
              <a:gdLst/>
              <a:ahLst/>
              <a:cxnLst/>
              <a:rect l="l" t="t" r="r" b="b"/>
              <a:pathLst>
                <a:path w="372745" h="106045">
                  <a:moveTo>
                    <a:pt x="372618" y="0"/>
                  </a:moveTo>
                  <a:lnTo>
                    <a:pt x="0" y="0"/>
                  </a:lnTo>
                  <a:lnTo>
                    <a:pt x="0" y="106045"/>
                  </a:lnTo>
                  <a:lnTo>
                    <a:pt x="372618" y="106045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4416" y="3792982"/>
              <a:ext cx="372745" cy="106045"/>
            </a:xfrm>
            <a:custGeom>
              <a:avLst/>
              <a:gdLst/>
              <a:ahLst/>
              <a:cxnLst/>
              <a:rect l="l" t="t" r="r" b="b"/>
              <a:pathLst>
                <a:path w="372745" h="106045">
                  <a:moveTo>
                    <a:pt x="0" y="0"/>
                  </a:moveTo>
                  <a:lnTo>
                    <a:pt x="372618" y="0"/>
                  </a:lnTo>
                  <a:lnTo>
                    <a:pt x="372618" y="106045"/>
                  </a:lnTo>
                  <a:lnTo>
                    <a:pt x="0" y="10604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108066" y="3991483"/>
            <a:ext cx="385445" cy="118745"/>
            <a:chOff x="5108066" y="3991483"/>
            <a:chExt cx="385445" cy="118745"/>
          </a:xfrm>
        </p:grpSpPr>
        <p:sp>
          <p:nvSpPr>
            <p:cNvPr id="15" name="object 15"/>
            <p:cNvSpPr/>
            <p:nvPr/>
          </p:nvSpPr>
          <p:spPr>
            <a:xfrm>
              <a:off x="5114416" y="3997833"/>
              <a:ext cx="372745" cy="106045"/>
            </a:xfrm>
            <a:custGeom>
              <a:avLst/>
              <a:gdLst/>
              <a:ahLst/>
              <a:cxnLst/>
              <a:rect l="l" t="t" r="r" b="b"/>
              <a:pathLst>
                <a:path w="372745" h="106045">
                  <a:moveTo>
                    <a:pt x="372618" y="0"/>
                  </a:moveTo>
                  <a:lnTo>
                    <a:pt x="0" y="0"/>
                  </a:lnTo>
                  <a:lnTo>
                    <a:pt x="0" y="105918"/>
                  </a:lnTo>
                  <a:lnTo>
                    <a:pt x="372618" y="105918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4416" y="3997833"/>
              <a:ext cx="372745" cy="106045"/>
            </a:xfrm>
            <a:custGeom>
              <a:avLst/>
              <a:gdLst/>
              <a:ahLst/>
              <a:cxnLst/>
              <a:rect l="l" t="t" r="r" b="b"/>
              <a:pathLst>
                <a:path w="372745" h="106045">
                  <a:moveTo>
                    <a:pt x="0" y="0"/>
                  </a:moveTo>
                  <a:lnTo>
                    <a:pt x="372618" y="0"/>
                  </a:lnTo>
                  <a:lnTo>
                    <a:pt x="372618" y="105918"/>
                  </a:lnTo>
                  <a:lnTo>
                    <a:pt x="0" y="105918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065773" y="2355342"/>
            <a:ext cx="762000" cy="172085"/>
          </a:xfrm>
          <a:custGeom>
            <a:avLst/>
            <a:gdLst/>
            <a:ahLst/>
            <a:cxnLst/>
            <a:rect l="l" t="t" r="r" b="b"/>
            <a:pathLst>
              <a:path w="762000" h="172085">
                <a:moveTo>
                  <a:pt x="762000" y="0"/>
                </a:moveTo>
                <a:lnTo>
                  <a:pt x="114300" y="0"/>
                </a:lnTo>
                <a:lnTo>
                  <a:pt x="114300" y="381"/>
                </a:lnTo>
                <a:lnTo>
                  <a:pt x="102362" y="381"/>
                </a:lnTo>
                <a:lnTo>
                  <a:pt x="59309" y="148971"/>
                </a:lnTo>
                <a:lnTo>
                  <a:pt x="28575" y="81407"/>
                </a:lnTo>
                <a:lnTo>
                  <a:pt x="0" y="94487"/>
                </a:lnTo>
                <a:lnTo>
                  <a:pt x="2666" y="101092"/>
                </a:lnTo>
                <a:lnTo>
                  <a:pt x="17399" y="94487"/>
                </a:lnTo>
                <a:lnTo>
                  <a:pt x="53466" y="171958"/>
                </a:lnTo>
                <a:lnTo>
                  <a:pt x="61975" y="171958"/>
                </a:lnTo>
                <a:lnTo>
                  <a:pt x="108712" y="11937"/>
                </a:lnTo>
                <a:lnTo>
                  <a:pt x="114300" y="11937"/>
                </a:lnTo>
                <a:lnTo>
                  <a:pt x="114300" y="12192"/>
                </a:lnTo>
                <a:lnTo>
                  <a:pt x="762000" y="12192"/>
                </a:lnTo>
                <a:lnTo>
                  <a:pt x="76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69460" y="1219276"/>
            <a:ext cx="6207760" cy="1346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probability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theory,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normally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distributed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random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variables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endParaRPr sz="1400" dirty="0">
              <a:latin typeface="Segoe UI"/>
              <a:cs typeface="Segoe U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also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normally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distributed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random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variable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sum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sum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means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random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variables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variance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sum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sum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variances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all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random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variable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9085" algn="l"/>
                <a:tab pos="211137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Standard</a:t>
            </a:r>
            <a:r>
              <a:rPr sz="1400" spc="-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deviation</a:t>
            </a:r>
            <a:r>
              <a:rPr sz="1400" spc="-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variance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8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818692" y="1217752"/>
            <a:ext cx="7550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24625"/>
                </a:solidFill>
                <a:latin typeface="Cambria Math"/>
                <a:cs typeface="Cambria Math"/>
              </a:rPr>
              <a:t>𝜇</a:t>
            </a:r>
            <a:r>
              <a:rPr sz="1800" spc="140" dirty="0">
                <a:solidFill>
                  <a:srgbClr val="D24625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D24625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D24625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D24625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800" spc="70" dirty="0">
                <a:solidFill>
                  <a:srgbClr val="D24625"/>
                </a:solidFill>
                <a:latin typeface="Cambria Math"/>
                <a:cs typeface="Cambria Math"/>
              </a:rPr>
              <a:t>𝜎</a:t>
            </a:r>
            <a:r>
              <a:rPr sz="1950" spc="104" baseline="27777" dirty="0">
                <a:solidFill>
                  <a:srgbClr val="D24625"/>
                </a:solidFill>
                <a:latin typeface="Cambria Math"/>
                <a:cs typeface="Cambria Math"/>
              </a:rPr>
              <a:t>2</a:t>
            </a:r>
            <a:r>
              <a:rPr sz="1950" spc="412" baseline="27777" dirty="0">
                <a:solidFill>
                  <a:srgbClr val="D24625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D24625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D24625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D24625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0651" y="4275772"/>
            <a:ext cx="3869690" cy="15843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1390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𝜇</a:t>
            </a:r>
            <a:r>
              <a:rPr sz="1800" spc="1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266065">
              <a:lnSpc>
                <a:spcPct val="100000"/>
              </a:lnSpc>
            </a:pPr>
            <a:r>
              <a:rPr sz="1800" spc="70" dirty="0">
                <a:solidFill>
                  <a:srgbClr val="006FC0"/>
                </a:solidFill>
                <a:latin typeface="Cambria Math"/>
                <a:cs typeface="Cambria Math"/>
              </a:rPr>
              <a:t>𝜎</a:t>
            </a:r>
            <a:r>
              <a:rPr sz="1950" spc="104" baseline="27777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950" spc="405" baseline="27777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2941" y="3218243"/>
            <a:ext cx="4105275" cy="26422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1576070" algn="ctr">
              <a:lnSpc>
                <a:spcPct val="100000"/>
              </a:lnSpc>
              <a:spcBef>
                <a:spcPts val="715"/>
              </a:spcBef>
            </a:pP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𝜇</a:t>
            </a:r>
            <a:r>
              <a:rPr sz="1800" spc="135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1 + 2</a:t>
            </a:r>
            <a:r>
              <a:rPr sz="1800" spc="95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=</a:t>
            </a:r>
            <a:r>
              <a:rPr sz="1800" spc="90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207346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  <a:p>
            <a:pPr marL="1576070" algn="ctr">
              <a:lnSpc>
                <a:spcPct val="100000"/>
              </a:lnSpc>
            </a:pPr>
            <a:r>
              <a:rPr sz="1800" spc="70" dirty="0">
                <a:solidFill>
                  <a:srgbClr val="207346"/>
                </a:solidFill>
                <a:latin typeface="Cambria Math"/>
                <a:cs typeface="Cambria Math"/>
              </a:rPr>
              <a:t>𝜎</a:t>
            </a:r>
            <a:r>
              <a:rPr sz="1950" spc="104" baseline="27777" dirty="0">
                <a:solidFill>
                  <a:srgbClr val="207346"/>
                </a:solidFill>
                <a:latin typeface="Cambria Math"/>
                <a:cs typeface="Cambria Math"/>
              </a:rPr>
              <a:t>2</a:t>
            </a:r>
            <a:r>
              <a:rPr sz="1950" spc="397" baseline="27777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1 + 2</a:t>
            </a:r>
            <a:r>
              <a:rPr sz="1800" spc="100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207346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  <a:p>
            <a:pPr marL="1576070" algn="ctr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𝜎</a:t>
            </a:r>
            <a:r>
              <a:rPr sz="1800" spc="135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207346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207346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207346"/>
                </a:solidFill>
                <a:latin typeface="Cambria Math"/>
                <a:cs typeface="Cambria Math"/>
              </a:rPr>
              <a:t>√3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6673" y="-95124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Clock</a:t>
            </a:r>
            <a:r>
              <a:rPr spc="-130" dirty="0"/>
              <a:t> </a:t>
            </a:r>
            <a:r>
              <a:rPr spc="-10" dirty="0"/>
              <a:t>Reconvergence</a:t>
            </a:r>
            <a:r>
              <a:rPr spc="-145" dirty="0"/>
              <a:t> </a:t>
            </a:r>
            <a:r>
              <a:rPr spc="-10" dirty="0"/>
              <a:t>Pessimism</a:t>
            </a:r>
            <a:r>
              <a:rPr spc="-110" dirty="0"/>
              <a:t> </a:t>
            </a:r>
            <a:r>
              <a:rPr spc="-10" dirty="0"/>
              <a:t>Removal</a:t>
            </a:r>
            <a:r>
              <a:rPr spc="-140" dirty="0"/>
              <a:t> </a:t>
            </a:r>
            <a:r>
              <a:rPr spc="-10" dirty="0"/>
              <a:t>(CRPR)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443" y="1179068"/>
            <a:ext cx="5739130" cy="742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STA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tools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calculate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paths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(Launch/Capture)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from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ports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down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pins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FFs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</a:tabLst>
            </a:pP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Flow</a:t>
            </a:r>
            <a:r>
              <a:rPr sz="1400" b="1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assuming</a:t>
            </a:r>
            <a:r>
              <a:rPr sz="1400" b="1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setup</a:t>
            </a:r>
            <a:r>
              <a:rPr sz="1400" b="1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analysis: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943" y="1971801"/>
            <a:ext cx="5709920" cy="1383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marR="55880" indent="-3429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930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tool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consider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C00000"/>
                </a:solidFill>
                <a:latin typeface="Segoe UI"/>
                <a:cs typeface="Segoe UI"/>
              </a:rPr>
              <a:t>launch</a:t>
            </a:r>
            <a:r>
              <a:rPr sz="1400" b="1" spc="-3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(from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port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pin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1</a:t>
            </a:r>
            <a:r>
              <a:rPr sz="1350" baseline="24691" dirty="0">
                <a:solidFill>
                  <a:srgbClr val="404040"/>
                </a:solidFill>
                <a:latin typeface="Segoe UI"/>
                <a:cs typeface="Segoe UI"/>
              </a:rPr>
              <a:t>st</a:t>
            </a:r>
            <a:r>
              <a:rPr sz="1350" spc="202" baseline="24691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FF)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apply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C00000"/>
                </a:solidFill>
                <a:latin typeface="Segoe UI"/>
                <a:cs typeface="Segoe UI"/>
              </a:rPr>
              <a:t>positive</a:t>
            </a:r>
            <a:r>
              <a:rPr sz="1400" b="1" spc="-20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it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model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worst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case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OCV</a:t>
            </a:r>
            <a:endParaRPr sz="1400" dirty="0">
              <a:latin typeface="Segoe UI"/>
              <a:cs typeface="Segoe UI"/>
            </a:endParaRPr>
          </a:p>
          <a:p>
            <a:pPr marL="393065" marR="25146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930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tool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then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consider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006FC0"/>
                </a:solidFill>
                <a:latin typeface="Segoe UI"/>
                <a:cs typeface="Segoe UI"/>
              </a:rPr>
              <a:t>capture</a:t>
            </a:r>
            <a:r>
              <a:rPr sz="1400" b="1" spc="-45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(from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port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to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pin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2</a:t>
            </a:r>
            <a:r>
              <a:rPr sz="1350" baseline="24691" dirty="0">
                <a:solidFill>
                  <a:srgbClr val="404040"/>
                </a:solidFill>
                <a:latin typeface="Segoe UI"/>
                <a:cs typeface="Segoe UI"/>
              </a:rPr>
              <a:t>nd</a:t>
            </a:r>
            <a:r>
              <a:rPr sz="1350" spc="165" baseline="24691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FF) and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will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apply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006FC0"/>
                </a:solidFill>
                <a:latin typeface="Segoe UI"/>
                <a:cs typeface="Segoe UI"/>
              </a:rPr>
              <a:t>negative</a:t>
            </a:r>
            <a:r>
              <a:rPr sz="1400" b="1" spc="-1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derates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model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the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worst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case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OCV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443" y="3404742"/>
            <a:ext cx="5834380" cy="2251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22225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can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see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clear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over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pessimism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applied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on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buffers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common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between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launch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and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capture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paths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207346"/>
                </a:solidFill>
                <a:latin typeface="Segoe UI"/>
                <a:cs typeface="Segoe UI"/>
              </a:rPr>
              <a:t>green</a:t>
            </a:r>
            <a:r>
              <a:rPr sz="1400" b="1" spc="-15" dirty="0">
                <a:solidFill>
                  <a:srgbClr val="207346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buffers)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:</a:t>
            </a:r>
            <a:endParaRPr sz="1400">
              <a:latin typeface="Segoe UI"/>
              <a:cs typeface="Segoe UI"/>
            </a:endParaRPr>
          </a:p>
          <a:p>
            <a:pPr marL="583565" marR="382905" lvl="1" indent="-3429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5835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During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launch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we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assumed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they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faced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that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caused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them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slower</a:t>
            </a:r>
            <a:endParaRPr sz="1400">
              <a:latin typeface="Segoe UI"/>
              <a:cs typeface="Segoe UI"/>
            </a:endParaRPr>
          </a:p>
          <a:p>
            <a:pPr marL="583565" lvl="1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5835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During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capture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analysis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we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assumed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they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faced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variation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that</a:t>
            </a:r>
            <a:endParaRPr sz="1400">
              <a:latin typeface="Segoe UI"/>
              <a:cs typeface="Segoe UI"/>
            </a:endParaRPr>
          </a:p>
          <a:p>
            <a:pPr marL="583565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caused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them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be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faster</a:t>
            </a:r>
            <a:endParaRPr sz="1400">
              <a:latin typeface="Segoe UI"/>
              <a:cs typeface="Segoe UI"/>
            </a:endParaRPr>
          </a:p>
          <a:p>
            <a:pPr marL="583565" marR="161925" lvl="1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5835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reality,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these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2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events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are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mutually</a:t>
            </a:r>
            <a:r>
              <a:rPr sz="1400" spc="-5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exclusive,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either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buffers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got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slower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or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faster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during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fabrication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but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not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both.</a:t>
            </a:r>
            <a:endParaRPr sz="1400">
              <a:latin typeface="Segoe UI"/>
              <a:cs typeface="Segoe UI"/>
            </a:endParaRPr>
          </a:p>
          <a:p>
            <a:pPr marL="583565" lvl="1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583565" algn="l"/>
              </a:tabLst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This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issue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is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called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404040"/>
                </a:solidFill>
                <a:latin typeface="Segoe UI"/>
                <a:cs typeface="Segoe UI"/>
              </a:rPr>
              <a:t>Clock</a:t>
            </a:r>
            <a:r>
              <a:rPr sz="1400" b="1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Reconvergence</a:t>
            </a:r>
            <a:r>
              <a:rPr sz="1400" b="1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Segoe UI"/>
                <a:cs typeface="Segoe UI"/>
              </a:rPr>
              <a:t>Pessimism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49208" y="1150366"/>
            <a:ext cx="4075429" cy="1536065"/>
            <a:chOff x="6849208" y="1150366"/>
            <a:chExt cx="4075429" cy="15360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9208" y="1150366"/>
              <a:ext cx="4075077" cy="14347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74863" y="1870456"/>
              <a:ext cx="981710" cy="801370"/>
            </a:xfrm>
            <a:custGeom>
              <a:avLst/>
              <a:gdLst/>
              <a:ahLst/>
              <a:cxnLst/>
              <a:rect l="l" t="t" r="r" b="b"/>
              <a:pathLst>
                <a:path w="981709" h="801369">
                  <a:moveTo>
                    <a:pt x="981455" y="0"/>
                  </a:moveTo>
                  <a:lnTo>
                    <a:pt x="701801" y="0"/>
                  </a:lnTo>
                  <a:lnTo>
                    <a:pt x="701801" y="386334"/>
                  </a:lnTo>
                  <a:lnTo>
                    <a:pt x="0" y="386334"/>
                  </a:lnTo>
                  <a:lnTo>
                    <a:pt x="0" y="801243"/>
                  </a:lnTo>
                  <a:lnTo>
                    <a:pt x="981455" y="801243"/>
                  </a:lnTo>
                  <a:lnTo>
                    <a:pt x="981455" y="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88451" y="2047493"/>
            <a:ext cx="3714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C00000"/>
                </a:solidFill>
                <a:latin typeface="Segoe UI"/>
                <a:cs typeface="Segoe UI"/>
              </a:rPr>
              <a:t>+10%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96631" y="2664866"/>
            <a:ext cx="2697480" cy="43497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000" b="1" dirty="0">
                <a:solidFill>
                  <a:srgbClr val="C00000"/>
                </a:solidFill>
                <a:latin typeface="Segoe UI"/>
                <a:cs typeface="Segoe UI"/>
              </a:rPr>
              <a:t>+10%</a:t>
            </a:r>
            <a:r>
              <a:rPr sz="1000" b="1" spc="32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1000" b="1" spc="-20" dirty="0">
                <a:solidFill>
                  <a:srgbClr val="C00000"/>
                </a:solidFill>
                <a:latin typeface="Segoe UI"/>
                <a:cs typeface="Segoe UI"/>
              </a:rPr>
              <a:t>+10%</a:t>
            </a:r>
            <a:endParaRPr sz="1000">
              <a:latin typeface="Segoe UI"/>
              <a:cs typeface="Segoe UI"/>
            </a:endParaRPr>
          </a:p>
          <a:p>
            <a:pPr marL="483870">
              <a:lnSpc>
                <a:spcPct val="100000"/>
              </a:lnSpc>
              <a:spcBef>
                <a:spcPts val="409"/>
              </a:spcBef>
            </a:pPr>
            <a:r>
              <a:rPr sz="1000" b="1" dirty="0">
                <a:latin typeface="Segoe UI"/>
                <a:cs typeface="Segoe UI"/>
              </a:rPr>
              <a:t>Derates</a:t>
            </a:r>
            <a:r>
              <a:rPr sz="1000" b="1" spc="-35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applied</a:t>
            </a:r>
            <a:r>
              <a:rPr sz="1000" b="1" spc="-2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on</a:t>
            </a:r>
            <a:r>
              <a:rPr sz="1000" b="1" spc="-4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launch</a:t>
            </a:r>
            <a:r>
              <a:rPr sz="1000" b="1" spc="-35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clock</a:t>
            </a:r>
            <a:r>
              <a:rPr sz="1000" b="1" spc="-40" dirty="0">
                <a:latin typeface="Segoe UI"/>
                <a:cs typeface="Segoe UI"/>
              </a:rPr>
              <a:t> </a:t>
            </a:r>
            <a:r>
              <a:rPr sz="1000" b="1" spc="-20" dirty="0">
                <a:latin typeface="Segoe UI"/>
                <a:cs typeface="Segoe UI"/>
              </a:rPr>
              <a:t>path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49208" y="3429000"/>
            <a:ext cx="4075429" cy="1536065"/>
            <a:chOff x="6849208" y="3429000"/>
            <a:chExt cx="4075429" cy="15360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9208" y="3429000"/>
              <a:ext cx="4075077" cy="1434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00263" y="4149090"/>
              <a:ext cx="3134360" cy="801370"/>
            </a:xfrm>
            <a:custGeom>
              <a:avLst/>
              <a:gdLst/>
              <a:ahLst/>
              <a:cxnLst/>
              <a:rect l="l" t="t" r="r" b="b"/>
              <a:pathLst>
                <a:path w="3134359" h="801370">
                  <a:moveTo>
                    <a:pt x="3134359" y="0"/>
                  </a:moveTo>
                  <a:lnTo>
                    <a:pt x="2854832" y="0"/>
                  </a:lnTo>
                  <a:lnTo>
                    <a:pt x="2854832" y="427863"/>
                  </a:lnTo>
                  <a:lnTo>
                    <a:pt x="0" y="427863"/>
                  </a:lnTo>
                  <a:lnTo>
                    <a:pt x="0" y="801116"/>
                  </a:lnTo>
                  <a:lnTo>
                    <a:pt x="3134359" y="801116"/>
                  </a:lnTo>
                  <a:lnTo>
                    <a:pt x="3134359" y="0"/>
                  </a:lnTo>
                  <a:close/>
                </a:path>
              </a:pathLst>
            </a:custGeom>
            <a:ln w="28575">
              <a:solidFill>
                <a:srgbClr val="006FC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14919" y="4948834"/>
            <a:ext cx="2708275" cy="42989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  <a:tabLst>
                <a:tab pos="1330325" algn="l"/>
                <a:tab pos="1814195" algn="l"/>
                <a:tab pos="2282190" algn="l"/>
              </a:tabLst>
            </a:pPr>
            <a:r>
              <a:rPr sz="1000" b="1" dirty="0">
                <a:solidFill>
                  <a:srgbClr val="006FC0"/>
                </a:solidFill>
                <a:latin typeface="Segoe UI"/>
                <a:cs typeface="Segoe UI"/>
              </a:rPr>
              <a:t>-10%</a:t>
            </a:r>
            <a:r>
              <a:rPr sz="1000" b="1" spc="185" dirty="0">
                <a:solidFill>
                  <a:srgbClr val="006FC0"/>
                </a:solidFill>
                <a:latin typeface="Segoe UI"/>
                <a:cs typeface="Segoe UI"/>
              </a:rPr>
              <a:t>  </a:t>
            </a:r>
            <a:r>
              <a:rPr sz="1000" b="1" dirty="0">
                <a:solidFill>
                  <a:srgbClr val="006FC0"/>
                </a:solidFill>
                <a:latin typeface="Segoe UI"/>
                <a:cs typeface="Segoe UI"/>
              </a:rPr>
              <a:t>-</a:t>
            </a:r>
            <a:r>
              <a:rPr sz="1000" b="1" spc="-25" dirty="0">
                <a:solidFill>
                  <a:srgbClr val="006FC0"/>
                </a:solidFill>
                <a:latin typeface="Segoe UI"/>
                <a:cs typeface="Segoe UI"/>
              </a:rPr>
              <a:t>10%</a:t>
            </a:r>
            <a:r>
              <a:rPr sz="1000" b="1" dirty="0">
                <a:solidFill>
                  <a:srgbClr val="006FC0"/>
                </a:solidFill>
                <a:latin typeface="Segoe UI"/>
                <a:cs typeface="Segoe UI"/>
              </a:rPr>
              <a:t>	-</a:t>
            </a:r>
            <a:r>
              <a:rPr sz="1000" b="1" spc="-25" dirty="0">
                <a:solidFill>
                  <a:srgbClr val="006FC0"/>
                </a:solidFill>
                <a:latin typeface="Segoe UI"/>
                <a:cs typeface="Segoe UI"/>
              </a:rPr>
              <a:t>10%</a:t>
            </a:r>
            <a:r>
              <a:rPr sz="1000" b="1" dirty="0">
                <a:solidFill>
                  <a:srgbClr val="006FC0"/>
                </a:solidFill>
                <a:latin typeface="Segoe UI"/>
                <a:cs typeface="Segoe UI"/>
              </a:rPr>
              <a:t>	-</a:t>
            </a:r>
            <a:r>
              <a:rPr sz="1000" b="1" spc="-25" dirty="0">
                <a:solidFill>
                  <a:srgbClr val="006FC0"/>
                </a:solidFill>
                <a:latin typeface="Segoe UI"/>
                <a:cs typeface="Segoe UI"/>
              </a:rPr>
              <a:t>10%</a:t>
            </a:r>
            <a:r>
              <a:rPr sz="1000" b="1" dirty="0">
                <a:solidFill>
                  <a:srgbClr val="006FC0"/>
                </a:solidFill>
                <a:latin typeface="Segoe UI"/>
                <a:cs typeface="Segoe UI"/>
              </a:rPr>
              <a:t>	-</a:t>
            </a:r>
            <a:r>
              <a:rPr sz="1000" b="1" spc="-25" dirty="0">
                <a:solidFill>
                  <a:srgbClr val="006FC0"/>
                </a:solidFill>
                <a:latin typeface="Segoe UI"/>
                <a:cs typeface="Segoe UI"/>
              </a:rPr>
              <a:t>10%</a:t>
            </a:r>
            <a:endParaRPr sz="1000">
              <a:latin typeface="Segoe UI"/>
              <a:cs typeface="Segoe UI"/>
            </a:endParaRPr>
          </a:p>
          <a:p>
            <a:pPr marL="436880">
              <a:lnSpc>
                <a:spcPct val="100000"/>
              </a:lnSpc>
              <a:spcBef>
                <a:spcPts val="390"/>
              </a:spcBef>
            </a:pPr>
            <a:r>
              <a:rPr sz="1000" b="1" dirty="0">
                <a:latin typeface="Segoe UI"/>
                <a:cs typeface="Segoe UI"/>
              </a:rPr>
              <a:t>Derates</a:t>
            </a:r>
            <a:r>
              <a:rPr sz="1000" b="1" spc="-4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applied</a:t>
            </a:r>
            <a:r>
              <a:rPr sz="1000" b="1" spc="-3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on</a:t>
            </a:r>
            <a:r>
              <a:rPr sz="1000" b="1" spc="-4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capture</a:t>
            </a:r>
            <a:r>
              <a:rPr sz="1000" b="1" spc="-30" dirty="0">
                <a:latin typeface="Segoe UI"/>
                <a:cs typeface="Segoe UI"/>
              </a:rPr>
              <a:t> </a:t>
            </a:r>
            <a:r>
              <a:rPr sz="1000" b="1" dirty="0">
                <a:latin typeface="Segoe UI"/>
                <a:cs typeface="Segoe UI"/>
              </a:rPr>
              <a:t>clock</a:t>
            </a:r>
            <a:r>
              <a:rPr sz="1000" b="1" spc="-45" dirty="0">
                <a:latin typeface="Segoe UI"/>
                <a:cs typeface="Segoe UI"/>
              </a:rPr>
              <a:t> </a:t>
            </a:r>
            <a:r>
              <a:rPr sz="1000" b="1" spc="-20" dirty="0">
                <a:latin typeface="Segoe UI"/>
                <a:cs typeface="Segoe UI"/>
              </a:rPr>
              <a:t>path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904747" y="6249308"/>
            <a:ext cx="88900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en-US" spc="-10"/>
              <a:t>/amradelm</a:t>
            </a: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1379834" y="626692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585858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lang="en-US" spc="-25" smtClean="0"/>
              <a:pPr marL="12700">
                <a:lnSpc>
                  <a:spcPct val="100000"/>
                </a:lnSpc>
                <a:spcBef>
                  <a:spcPts val="195"/>
                </a:spcBef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E646E76-C566-FECF-BBA4-A33FBA1368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10014"/>
                  </p:ext>
                </p:extLst>
              </p:nvPr>
            </p:nvGraphicFramePr>
            <p:xfrm>
              <a:off x="1989221" y="641685"/>
              <a:ext cx="7180428" cy="5857339"/>
            </p:xfrm>
            <a:graphic>
              <a:graphicData uri="http://schemas.openxmlformats.org/drawingml/2006/table">
                <a:tbl>
                  <a:tblPr/>
                  <a:tblGrid>
                    <a:gridCol w="1795107">
                      <a:extLst>
                        <a:ext uri="{9D8B030D-6E8A-4147-A177-3AD203B41FA5}">
                          <a16:colId xmlns:a16="http://schemas.microsoft.com/office/drawing/2014/main" val="1570539284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242789944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3613421695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2593709184"/>
                        </a:ext>
                      </a:extLst>
                    </a:gridCol>
                  </a:tblGrid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Aspect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OCV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AOCV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SOCV / POCV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099520604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Full name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On-Chip Variation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Advanced On-Chip Variation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Statistical/Parametric On-Chip Variation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534383199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Basic idea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Applies a fixed early/late derate to every cell and net delay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Applies a derate based on path depth and physical distance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Models each cell/arc delay statistically using mean and sigma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064680894"/>
                      </a:ext>
                    </a:extLst>
                  </a:tr>
                  <a:tr h="5397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Delay calculation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800"/>
                                  </m:ctrlPr>
                                </m:sSubPr>
                                <m:e>
                                  <m:r>
                                    <a:rPr lang="ar-AE" sz="800"/>
                                    <m:t>𝐷</m:t>
                                  </m:r>
                                </m:e>
                                <m:sub>
                                  <m:r>
                                    <a:rPr lang="ar-AE" sz="800"/>
                                    <m:t>𝑙𝑎𝑡𝑒</m:t>
                                  </m:r>
                                </m:sub>
                              </m:sSub>
                              <m:r>
                                <a:rPr lang="ar-AE" sz="800"/>
                                <m:t>=</m:t>
                              </m:r>
                              <m:r>
                                <a:rPr lang="ar-AE" sz="800"/>
                                <m:t>𝐷</m:t>
                              </m:r>
                              <m:r>
                                <a:rPr lang="ar-AE" sz="800"/>
                                <m:t>×</m:t>
                              </m:r>
                              <m:d>
                                <m:dPr>
                                  <m:ctrlPr>
                                    <a:rPr lang="ar-AE" sz="800"/>
                                  </m:ctrlPr>
                                </m:dPr>
                                <m:e>
                                  <m:r>
                                    <a:rPr lang="ar-AE" sz="800"/>
                                    <m:t>1</m:t>
                                  </m:r>
                                  <m:r>
                                    <a:rPr lang="ar-AE" sz="800"/>
                                    <m:t>+</m:t>
                                  </m:r>
                                  <m:r>
                                    <a:rPr lang="ar-AE" sz="800"/>
                                    <m:t>𝑑𝑒𝑟𝑎𝑡𝑒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800">
                              <a:effectLst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800"/>
                                  </m:ctrlPr>
                                </m:sSubPr>
                                <m:e>
                                  <m:r>
                                    <a:rPr lang="ar-AE" sz="800"/>
                                    <m:t>𝐷</m:t>
                                  </m:r>
                                </m:e>
                                <m:sub>
                                  <m:r>
                                    <a:rPr lang="ar-AE" sz="800"/>
                                    <m:t>𝑒𝑎𝑟𝑙𝑦</m:t>
                                  </m:r>
                                </m:sub>
                              </m:sSub>
                              <m:r>
                                <a:rPr lang="ar-AE" sz="800"/>
                                <m:t>=</m:t>
                              </m:r>
                              <m:r>
                                <a:rPr lang="ar-AE" sz="800"/>
                                <m:t>𝐷</m:t>
                              </m:r>
                              <m:r>
                                <a:rPr lang="ar-AE" sz="800"/>
                                <m:t>×</m:t>
                              </m:r>
                              <m:d>
                                <m:dPr>
                                  <m:ctrlPr>
                                    <a:rPr lang="ar-AE" sz="800"/>
                                  </m:ctrlPr>
                                </m:dPr>
                                <m:e>
                                  <m:r>
                                    <a:rPr lang="ar-AE" sz="800"/>
                                    <m:t>1</m:t>
                                  </m:r>
                                  <m:r>
                                    <a:rPr lang="ar-AE" sz="800"/>
                                    <m:t>−</m:t>
                                  </m:r>
                                  <m:r>
                                    <a:rPr lang="ar-AE" sz="800"/>
                                    <m:t>𝑑𝑒𝑟𝑎𝑡𝑒</m:t>
                                  </m:r>
                                </m:e>
                              </m:d>
                            </m:oMath>
                          </a14:m>
                          <a:endParaRPr lang="ar-AE" sz="800">
                            <a:effectLst/>
                          </a:endParaRP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Derate is looked up from an AOCV table indexed by depth and distance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800"/>
                                <m:t>𝐷</m:t>
                              </m:r>
                              <m:r>
                                <a:rPr lang="en-US" sz="800"/>
                                <m:t>=</m:t>
                              </m:r>
                              <m:r>
                                <a:rPr lang="en-US" sz="800"/>
                                <m:t>𝜇</m:t>
                              </m:r>
                              <m:r>
                                <a:rPr lang="en-US" sz="800"/>
                                <m:t>±</m:t>
                              </m:r>
                              <m:r>
                                <a:rPr lang="en-US" sz="800"/>
                                <m:t>𝑁</m:t>
                              </m:r>
                              <m:r>
                                <a:rPr lang="en-US" sz="800"/>
                                <m:t>𝜎</m:t>
                              </m:r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, commonly </a:t>
                          </a:r>
                          <a14:m>
                            <m:oMath xmlns:m="http://schemas.openxmlformats.org/officeDocument/2006/math">
                              <m:r>
                                <a:rPr lang="en-US" sz="800"/>
                                <m:t>3</m:t>
                              </m:r>
                              <m:r>
                                <a:rPr lang="en-US" sz="800"/>
                                <m:t>𝜎</m:t>
                              </m:r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for sign-off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560798981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Variation accumulation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Linear worst-case accumulation across all stages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Linear accumulation, but derate reduces with greater logic depth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Statistical accumulation using root-sum-square, RSS, of sigma values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036526251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Depth awareness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No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Yes, inherently through statistical modeling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953349301"/>
                      </a:ext>
                    </a:extLst>
                  </a:tr>
                  <a:tr h="68893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Distance awareness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No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Usually no direct distance term, though sigma can be characterized for cell context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713308709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Library/data required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Simple derate values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AOCV side-file tables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LVF, Liberty Variation Format, or POCV sigma coefficients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217783963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Pessimism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Highest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Lowest / most realistic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971693074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Accuracy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High, close to SSTA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050086201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Runtime and complexity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Lowest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Higher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188185995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Typical use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Older nodes, quick analysis, conservative sign-off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Mid/advanced nodes where AOCV tables are available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Advanced-node timing sign-off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524200568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Main benefit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Simple and safe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Reduces flat-OCV pessimism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Best balance of accuracy and reduced overdesign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134433276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Main drawback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Too pessimistic for long paths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Still deterministic; less accurate than statistical modeling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Requires LVF data and more computation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4260340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E646E76-C566-FECF-BBA4-A33FBA1368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10014"/>
                  </p:ext>
                </p:extLst>
              </p:nvPr>
            </p:nvGraphicFramePr>
            <p:xfrm>
              <a:off x="1989221" y="641685"/>
              <a:ext cx="7180428" cy="5857339"/>
            </p:xfrm>
            <a:graphic>
              <a:graphicData uri="http://schemas.openxmlformats.org/drawingml/2006/table">
                <a:tbl>
                  <a:tblPr/>
                  <a:tblGrid>
                    <a:gridCol w="1795107">
                      <a:extLst>
                        <a:ext uri="{9D8B030D-6E8A-4147-A177-3AD203B41FA5}">
                          <a16:colId xmlns:a16="http://schemas.microsoft.com/office/drawing/2014/main" val="1570539284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242789944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3613421695"/>
                        </a:ext>
                      </a:extLst>
                    </a:gridCol>
                    <a:gridCol w="1795107">
                      <a:extLst>
                        <a:ext uri="{9D8B030D-6E8A-4147-A177-3AD203B41FA5}">
                          <a16:colId xmlns:a16="http://schemas.microsoft.com/office/drawing/2014/main" val="2593709184"/>
                        </a:ext>
                      </a:extLst>
                    </a:gridCol>
                  </a:tblGrid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Aspect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OCV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AOCV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SOCV / POCV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099520604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Full name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On-Chip Variation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Advanced On-Chip Variation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Statistical/Parametric On-Chip Variation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534383199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Basic idea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Applies a fixed early/late derate to every cell and net delay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Applies a derate based on path depth and physical distance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Models each cell/arc delay statistically using mean and sigma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064680894"/>
                      </a:ext>
                    </a:extLst>
                  </a:tr>
                  <a:tr h="53971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Delay calculation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637" marR="21637" marT="21637" marB="21637" anchor="ctr">
                        <a:blipFill>
                          <a:blip r:embed="rId2"/>
                          <a:stretch>
                            <a:fillRect l="-100339" t="-210227" r="-200339" b="-78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Derate is looked up from an AOCV table indexed by depth and distance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1637" marR="21637" marT="21637" marB="21637" anchor="ctr">
                        <a:blipFill>
                          <a:blip r:embed="rId2"/>
                          <a:stretch>
                            <a:fillRect l="-300000" t="-210227" r="-678" b="-78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798981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Variation accumulation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Linear worst-case accumulation across all stages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Linear accumulation, but derate reduces with greater logic depth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Statistical accumulation using root-sum-square, RSS, of sigma values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036526251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Depth awareness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No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Yes, inherently through statistical modeling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953349301"/>
                      </a:ext>
                    </a:extLst>
                  </a:tr>
                  <a:tr h="68893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Distance awareness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No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Yes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Usually no direct distance term, though sigma can be characterized for cell context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713308709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Library/data required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Simple derate values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AOCV side-file tables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LVF, Liberty Variation Format, or POCV sigma coefficients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217783963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Pessimism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Highest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Lowest / most realistic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971693074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Accuracy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High, close to SSTA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050086201"/>
                      </a:ext>
                    </a:extLst>
                  </a:tr>
                  <a:tr h="2143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Runtime and complexity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Lowest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Medium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Higher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188185995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Typical use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Older nodes, quick analysis, conservative sign-off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Mid/advanced nodes where AOCV tables are available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Advanced-node timing sign-off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2524200568"/>
                      </a:ext>
                    </a:extLst>
                  </a:tr>
                  <a:tr h="372541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Main benefit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Simple and safe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Reduces flat-OCV pessimism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Best balance of accuracy and reduced overdesign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3134433276"/>
                      </a:ext>
                    </a:extLst>
                  </a:tr>
                  <a:tr h="53073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Main drawback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Too pessimistic for long paths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Still deterministic; less accurate than statistical modeling</a:t>
                          </a:r>
                        </a:p>
                      </a:txBody>
                      <a:tcPr marL="21637" marR="21637" marT="21637" marB="21637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Requires LVF data and more computation</a:t>
                          </a:r>
                        </a:p>
                      </a:txBody>
                      <a:tcPr marL="21637" marR="21637" marT="21637" marB="21637" anchor="ctr"/>
                    </a:tc>
                    <a:extLst>
                      <a:ext uri="{0D108BD9-81ED-4DB2-BD59-A6C34878D82A}">
                        <a16:rowId xmlns:a16="http://schemas.microsoft.com/office/drawing/2014/main" val="14260340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973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8BDBCB-C02B-79EB-5A66-D7DE986C2E3F}"/>
              </a:ext>
            </a:extLst>
          </p:cNvPr>
          <p:cNvSpPr txBox="1"/>
          <p:nvPr/>
        </p:nvSpPr>
        <p:spPr>
          <a:xfrm>
            <a:off x="657727" y="238309"/>
            <a:ext cx="104754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81B3A"/>
                </a:solidFill>
                <a:effectLst/>
                <a:latin typeface="SegoeuiPc"/>
              </a:rPr>
              <a:t>What are the markers on IO cells, which command creates them, and what is their significance?</a:t>
            </a:r>
            <a:endParaRPr lang="vi-VN" b="0" i="0" dirty="0">
              <a:solidFill>
                <a:srgbClr val="081B3A"/>
              </a:solidFill>
              <a:effectLst/>
              <a:latin typeface="SegoeuiP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081B3A"/>
                </a:solidFill>
                <a:latin typeface="SegoeuiPc"/>
              </a:rPr>
              <a:t>T</a:t>
            </a:r>
            <a:r>
              <a:rPr lang="en-US" b="0" i="0" dirty="0">
                <a:solidFill>
                  <a:srgbClr val="081B3A"/>
                </a:solidFill>
                <a:effectLst/>
                <a:latin typeface="SegoeuiPc"/>
              </a:rPr>
              <a:t>he markers on IO </a:t>
            </a:r>
            <a:r>
              <a:rPr lang="vi-VN" b="0" i="0" dirty="0">
                <a:solidFill>
                  <a:srgbClr val="081B3A"/>
                </a:solidFill>
                <a:effectLst/>
                <a:latin typeface="SegoeuiPc"/>
              </a:rPr>
              <a:t>cells: </a:t>
            </a:r>
          </a:p>
          <a:p>
            <a:r>
              <a:rPr lang="en-US" dirty="0"/>
              <a:t>Visual indicators associated with IO pins or IO cells in the physical layout.</a:t>
            </a:r>
          </a:p>
          <a:p>
            <a:r>
              <a:rPr lang="en-US" dirty="0"/>
              <a:t>Help identify pin locations, placement status, or physical design violations.</a:t>
            </a:r>
          </a:p>
          <a:p>
            <a:endParaRPr lang="vi-VN" b="0" i="0" dirty="0">
              <a:solidFill>
                <a:srgbClr val="081B3A"/>
              </a:solidFill>
              <a:effectLst/>
              <a:latin typeface="SegoeuiP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081B3A"/>
                </a:solidFill>
                <a:latin typeface="SegoeuiPc"/>
              </a:rPr>
              <a:t>Command create them:</a:t>
            </a:r>
          </a:p>
          <a:p>
            <a:r>
              <a:rPr lang="en-US" dirty="0" err="1"/>
              <a:t>editPin</a:t>
            </a:r>
            <a:r>
              <a:rPr lang="en-US" dirty="0"/>
              <a:t> – Creates or modifies IO pin locations.</a:t>
            </a:r>
          </a:p>
          <a:p>
            <a:r>
              <a:rPr lang="en-US" dirty="0" err="1"/>
              <a:t>placeInstance</a:t>
            </a:r>
            <a:r>
              <a:rPr lang="en-US" dirty="0"/>
              <a:t> – Places IO cell instances.</a:t>
            </a:r>
          </a:p>
          <a:p>
            <a:r>
              <a:rPr lang="en-US" dirty="0" err="1"/>
              <a:t>create_marker</a:t>
            </a:r>
            <a:r>
              <a:rPr lang="en-US" dirty="0"/>
              <a:t> – Creates custom markers, if supported by the tool version.</a:t>
            </a:r>
          </a:p>
          <a:p>
            <a:r>
              <a:rPr lang="en-US" dirty="0" err="1"/>
              <a:t>verify_drc</a:t>
            </a:r>
            <a:r>
              <a:rPr lang="en-US" dirty="0"/>
              <a:t> – Checks design-rule violations; marker generation depends on the verification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>
              <a:solidFill>
                <a:srgbClr val="081B3A"/>
              </a:solidFill>
              <a:latin typeface="SegoeuiP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081B3A"/>
                </a:solidFill>
                <a:latin typeface="SegoeuiPc"/>
              </a:rPr>
              <a:t>Their Significance:</a:t>
            </a:r>
          </a:p>
          <a:p>
            <a:r>
              <a:rPr lang="en-US" b="1" dirty="0"/>
              <a:t>Placement:</a:t>
            </a:r>
            <a:r>
              <a:rPr lang="en-US" dirty="0"/>
              <a:t> Check IO pin and cell locations.</a:t>
            </a:r>
          </a:p>
          <a:p>
            <a:r>
              <a:rPr lang="en-US" b="1" dirty="0"/>
              <a:t>Routing:</a:t>
            </a:r>
            <a:r>
              <a:rPr lang="en-US" dirty="0"/>
              <a:t> Identify potential pin-access and connectivity issues.</a:t>
            </a:r>
          </a:p>
          <a:p>
            <a:r>
              <a:rPr lang="en-US" b="1" dirty="0"/>
              <a:t>DRC:</a:t>
            </a:r>
            <a:r>
              <a:rPr lang="en-US" dirty="0"/>
              <a:t> Locate spacing and other physical design violations.</a:t>
            </a:r>
          </a:p>
          <a:p>
            <a:r>
              <a:rPr lang="en-US" b="1" dirty="0"/>
              <a:t>Debugging:</a:t>
            </a:r>
            <a:r>
              <a:rPr lang="en-US" dirty="0"/>
              <a:t> Quickly identify problem areas for investigation and correction.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>
              <a:solidFill>
                <a:srgbClr val="081B3A"/>
              </a:solidFill>
              <a:latin typeface="SegoeuiP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AE3A0-D991-DF47-E8DE-BDEEFC36D65B}"/>
              </a:ext>
            </a:extLst>
          </p:cNvPr>
          <p:cNvSpPr txBox="1"/>
          <p:nvPr/>
        </p:nvSpPr>
        <p:spPr>
          <a:xfrm>
            <a:off x="4523873" y="486536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create_marker</a:t>
            </a:r>
            <a:r>
              <a:rPr lang="en-US" dirty="0"/>
              <a:t> \</a:t>
            </a:r>
          </a:p>
          <a:p>
            <a:r>
              <a:rPr lang="en-US" dirty="0"/>
              <a:t>  -</a:t>
            </a:r>
            <a:r>
              <a:rPr lang="en-US" dirty="0" err="1"/>
              <a:t>bbox</a:t>
            </a:r>
            <a:r>
              <a:rPr lang="en-US" dirty="0"/>
              <a:t> {x1 y1 x2 y2} \</a:t>
            </a:r>
          </a:p>
          <a:p>
            <a:r>
              <a:rPr lang="en-US" dirty="0"/>
              <a:t>  -layer metal3 \</a:t>
            </a:r>
          </a:p>
          <a:p>
            <a:r>
              <a:rPr lang="en-US" dirty="0"/>
              <a:t>  -type &lt;</a:t>
            </a:r>
            <a:r>
              <a:rPr lang="en-US" dirty="0" err="1"/>
              <a:t>marker_type</a:t>
            </a:r>
            <a:r>
              <a:rPr lang="en-US" dirty="0"/>
              <a:t>&gt; \</a:t>
            </a:r>
          </a:p>
          <a:p>
            <a:r>
              <a:rPr lang="en-US" dirty="0"/>
              <a:t>  -</a:t>
            </a:r>
            <a:r>
              <a:rPr lang="en-US" dirty="0" err="1"/>
              <a:t>sub_type</a:t>
            </a:r>
            <a:r>
              <a:rPr lang="en-US" dirty="0"/>
              <a:t> &lt;</a:t>
            </a:r>
            <a:r>
              <a:rPr lang="en-US" dirty="0" err="1"/>
              <a:t>marker_subtype</a:t>
            </a:r>
            <a:r>
              <a:rPr lang="en-US" dirty="0"/>
              <a:t>&gt; \</a:t>
            </a:r>
          </a:p>
          <a:p>
            <a:r>
              <a:rPr lang="en-US" dirty="0"/>
              <a:t>  -description "Spacing violation near IO pad"</a:t>
            </a:r>
          </a:p>
        </p:txBody>
      </p:sp>
    </p:spTree>
    <p:extLst>
      <p:ext uri="{BB962C8B-B14F-4D97-AF65-F5344CB8AC3E}">
        <p14:creationId xmlns:p14="http://schemas.microsoft.com/office/powerpoint/2010/main" val="318076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5123C4-09BC-332A-581C-D08B74C6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737" y="741947"/>
            <a:ext cx="6268853" cy="3930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66CEC0-180B-1DDB-01BC-FCC01A14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737" y="5180701"/>
            <a:ext cx="6540045" cy="72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65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5B3482F-01C3-1F53-D188-7D508DEA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483" y="529389"/>
            <a:ext cx="7537961" cy="4563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B138AD-C4C6-EAE5-151D-032A85ED4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062" y="5426865"/>
            <a:ext cx="8503087" cy="9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18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840AF-65C2-9C21-A901-C484DB1B31DA}"/>
              </a:ext>
            </a:extLst>
          </p:cNvPr>
          <p:cNvSpPr txBox="1"/>
          <p:nvPr/>
        </p:nvSpPr>
        <p:spPr>
          <a:xfrm>
            <a:off x="622300" y="463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report_constraint</a:t>
            </a:r>
            <a:r>
              <a:rPr lang="en-US" dirty="0"/>
              <a:t> -</a:t>
            </a:r>
            <a:r>
              <a:rPr lang="en-US" dirty="0" err="1"/>
              <a:t>all_violators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3A4C7-8D72-1A70-17AE-2D244BB3AFFA}"/>
              </a:ext>
            </a:extLst>
          </p:cNvPr>
          <p:cNvSpPr txBox="1"/>
          <p:nvPr/>
        </p:nvSpPr>
        <p:spPr>
          <a:xfrm>
            <a:off x="0" y="88383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vi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Tên</a:t>
            </a:r>
            <a:r>
              <a:rPr lang="en-US" dirty="0"/>
              <a:t> net </a:t>
            </a:r>
            <a:r>
              <a:rPr lang="en-US" dirty="0" err="1"/>
              <a:t>hoặc</a:t>
            </a:r>
            <a:r>
              <a:rPr lang="en-US" dirty="0"/>
              <a:t> endpoint.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Loại</a:t>
            </a:r>
            <a:r>
              <a:rPr lang="en-US" dirty="0"/>
              <a:t> constraint.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actual.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limit.</a:t>
            </a:r>
          </a:p>
          <a:p>
            <a:pPr>
              <a:buFont typeface="+mj-lt"/>
              <a:buAutoNum type="arabicPeriod"/>
            </a:pPr>
            <a:r>
              <a:rPr lang="en-US" dirty="0"/>
              <a:t>Slack </a:t>
            </a:r>
            <a:r>
              <a:rPr lang="en-US" dirty="0" err="1"/>
              <a:t>hoặc</a:t>
            </a:r>
            <a:r>
              <a:rPr lang="en-US" dirty="0"/>
              <a:t> violation value.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59DECE7-8853-47DB-0B53-BA8582CE8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088188"/>
              </p:ext>
            </p:extLst>
          </p:nvPr>
        </p:nvGraphicFramePr>
        <p:xfrm>
          <a:off x="622300" y="5438141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52328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38427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30456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1399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 / InstPin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MaxFanLoad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FanLoad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FanLoadSlk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380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u_core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/buf2m_B2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17081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-16082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34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pad2buf_FCKA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10844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-9845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167340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8388A0-B41F-C186-39C8-E53ED9BE6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45743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Ý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MaxFanLoad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999: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fanout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17081 / 10844: Fanout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vượt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FanLoadSlk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-16082 / -9845: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fanout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âm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thấy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vượt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5899E-A250-E691-01DD-CD5E5ED72971}"/>
              </a:ext>
            </a:extLst>
          </p:cNvPr>
          <p:cNvSpPr txBox="1"/>
          <p:nvPr/>
        </p:nvSpPr>
        <p:spPr>
          <a:xfrm>
            <a:off x="4013200" y="407065"/>
            <a:ext cx="632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report_constraint</a:t>
            </a:r>
            <a:r>
              <a:rPr lang="en-US" dirty="0"/>
              <a:t> -</a:t>
            </a:r>
            <a:r>
              <a:rPr lang="en-US" dirty="0" err="1"/>
              <a:t>all_violators</a:t>
            </a:r>
            <a:r>
              <a:rPr lang="en-US" dirty="0"/>
              <a:t> -</a:t>
            </a:r>
            <a:r>
              <a:rPr lang="en-US" dirty="0" err="1"/>
              <a:t>drv_violation_type</a:t>
            </a:r>
            <a:r>
              <a:rPr lang="en-US" dirty="0"/>
              <a:t> </a:t>
            </a:r>
            <a:r>
              <a:rPr lang="en-US" dirty="0" err="1"/>
              <a:t>max_transition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44059-FC12-A28B-5E6D-F38779EDC691}"/>
              </a:ext>
            </a:extLst>
          </p:cNvPr>
          <p:cNvSpPr txBox="1"/>
          <p:nvPr/>
        </p:nvSpPr>
        <p:spPr>
          <a:xfrm>
            <a:off x="3556000" y="855803"/>
            <a:ext cx="6324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deselectAll</a:t>
            </a:r>
            <a:endParaRPr lang="en-US" dirty="0"/>
          </a:p>
          <a:p>
            <a:r>
              <a:rPr lang="en-US" dirty="0" err="1"/>
              <a:t>selectPin</a:t>
            </a:r>
            <a:r>
              <a:rPr lang="en-US" dirty="0"/>
              <a:t> </a:t>
            </a:r>
            <a:r>
              <a:rPr lang="en-US" dirty="0" err="1"/>
              <a:t>u_core</a:t>
            </a:r>
            <a:r>
              <a:rPr lang="en-US" dirty="0"/>
              <a:t>/CKSRC0_ckbf_MMEM145/I    ;# </a:t>
            </a:r>
            <a:r>
              <a:rPr lang="en-US" dirty="0" err="1"/>
              <a:t>chọn</a:t>
            </a:r>
            <a:r>
              <a:rPr lang="en-US" dirty="0"/>
              <a:t> pin</a:t>
            </a:r>
          </a:p>
          <a:p>
            <a:r>
              <a:rPr lang="en-US" dirty="0"/>
              <a:t># </a:t>
            </a:r>
            <a:r>
              <a:rPr lang="en-US" dirty="0" err="1"/>
              <a:t>hoặc</a:t>
            </a:r>
            <a:endParaRPr lang="en-US" dirty="0"/>
          </a:p>
          <a:p>
            <a:r>
              <a:rPr lang="en-US" dirty="0" err="1"/>
              <a:t>selectNet</a:t>
            </a:r>
            <a:r>
              <a:rPr lang="en-US" dirty="0"/>
              <a:t> </a:t>
            </a:r>
            <a:r>
              <a:rPr lang="en-US" dirty="0" err="1"/>
              <a:t>u_core</a:t>
            </a:r>
            <a:r>
              <a:rPr lang="en-US" dirty="0"/>
              <a:t>/n592                      ;# </a:t>
            </a:r>
            <a:r>
              <a:rPr lang="en-US" dirty="0" err="1"/>
              <a:t>chọn</a:t>
            </a:r>
            <a:r>
              <a:rPr lang="en-US" dirty="0"/>
              <a:t> net</a:t>
            </a:r>
          </a:p>
          <a:p>
            <a:r>
              <a:rPr lang="en-US" dirty="0" err="1"/>
              <a:t>zoomSelected</a:t>
            </a:r>
            <a:r>
              <a:rPr lang="en-US" dirty="0"/>
              <a:t>                               ;# zoom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4A43A-519D-373A-ADDB-48D6692180C4}"/>
              </a:ext>
            </a:extLst>
          </p:cNvPr>
          <p:cNvSpPr txBox="1"/>
          <p:nvPr/>
        </p:nvSpPr>
        <p:spPr>
          <a:xfrm>
            <a:off x="3124200" y="2690336"/>
            <a:ext cx="6350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report_net</a:t>
            </a:r>
            <a:r>
              <a:rPr lang="en-US" dirty="0"/>
              <a:t> -net &lt;</a:t>
            </a:r>
            <a:r>
              <a:rPr lang="en-US" dirty="0" err="1"/>
              <a:t>ten_net</a:t>
            </a:r>
            <a:r>
              <a:rPr lang="en-US" dirty="0"/>
              <a:t>&gt;                  ;# fanout, </a:t>
            </a:r>
            <a:r>
              <a:rPr lang="en-US" dirty="0" err="1"/>
              <a:t>điện</a:t>
            </a:r>
            <a:r>
              <a:rPr lang="en-US" dirty="0"/>
              <a:t> dung, driver</a:t>
            </a:r>
          </a:p>
          <a:p>
            <a:r>
              <a:rPr lang="en-US" dirty="0" err="1"/>
              <a:t>report_timing</a:t>
            </a:r>
            <a:r>
              <a:rPr lang="en-US" dirty="0"/>
              <a:t> -through &lt;pin&gt;               ;# </a:t>
            </a:r>
            <a:r>
              <a:rPr lang="en-US" dirty="0" err="1"/>
              <a:t>đường</a:t>
            </a:r>
            <a:r>
              <a:rPr lang="en-US" dirty="0"/>
              <a:t> timing </a:t>
            </a:r>
            <a:r>
              <a:rPr lang="en-US" dirty="0" err="1"/>
              <a:t>đi</a:t>
            </a:r>
            <a:r>
              <a:rPr lang="en-US" dirty="0"/>
              <a:t> qua pin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all_fanin</a:t>
            </a:r>
            <a:r>
              <a:rPr lang="en-US" dirty="0"/>
              <a:t> -to &lt;pin&gt; -</a:t>
            </a:r>
            <a:r>
              <a:rPr lang="en-US" dirty="0" err="1"/>
              <a:t>only_cells</a:t>
            </a:r>
            <a:r>
              <a:rPr lang="en-US" dirty="0"/>
              <a:t>            ;# </a:t>
            </a:r>
            <a:r>
              <a:rPr lang="en-US" dirty="0" err="1"/>
              <a:t>các</a:t>
            </a:r>
            <a:r>
              <a:rPr lang="en-US" dirty="0"/>
              <a:t> cell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lang="en-US" dirty="0"/>
          </a:p>
          <a:p>
            <a:r>
              <a:rPr lang="en-US" dirty="0" err="1"/>
              <a:t>get_db</a:t>
            </a:r>
            <a:r>
              <a:rPr lang="en-US" dirty="0"/>
              <a:t> [</a:t>
            </a:r>
            <a:r>
              <a:rPr lang="en-US" dirty="0" err="1"/>
              <a:t>get_db</a:t>
            </a:r>
            <a:r>
              <a:rPr lang="en-US" dirty="0"/>
              <a:t> pins &lt;pin&gt;] .</a:t>
            </a:r>
            <a:r>
              <a:rPr lang="en-US" dirty="0" err="1"/>
              <a:t>slew_max_rise</a:t>
            </a:r>
            <a:r>
              <a:rPr lang="en-US" dirty="0"/>
              <a:t>  ;#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slew</a:t>
            </a:r>
          </a:p>
        </p:txBody>
      </p:sp>
    </p:spTree>
    <p:extLst>
      <p:ext uri="{BB962C8B-B14F-4D97-AF65-F5344CB8AC3E}">
        <p14:creationId xmlns:p14="http://schemas.microsoft.com/office/powerpoint/2010/main" val="2221430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0EC23-50FB-7BCD-AD1E-7C6DBEB8224B}"/>
              </a:ext>
            </a:extLst>
          </p:cNvPr>
          <p:cNvSpPr txBox="1"/>
          <p:nvPr/>
        </p:nvSpPr>
        <p:spPr>
          <a:xfrm>
            <a:off x="3048000" y="-5204132"/>
            <a:ext cx="6096000" cy="1726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vi-VN" b="1" dirty="0"/>
              <a:t>1. Đặt mục tiêu timing (margin)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-setupTargetSlack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0.05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đòi slack setup ≥ 0.05 ns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-holdTargetSlack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0.03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đòi slack hold ≥ 0.03 ns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set_clock_uncertainty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0.1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[get_clocks clk]</a:t>
            </a:r>
          </a:p>
          <a:p>
            <a:pPr rtl="0">
              <a:buNone/>
            </a:pPr>
            <a:r>
              <a:rPr lang="vi-VN" b="1" dirty="0"/>
              <a:t>2. Điều khiển theo path group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group_path -name CRIT -from [get_pins u_core/MMEM*/CK]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setPathGroupOptions CRIT -effortLevel high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setPathGroupOptions reg2reg -targetSlack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0.05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setPathGroupOptions in2reg -weight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2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tăng ưu tiên nhóm này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reportPathGroupOptions</a:t>
            </a:r>
          </a:p>
          <a:p>
            <a:pPr rtl="0">
              <a:buNone/>
            </a:pPr>
            <a:r>
              <a:rPr lang="vi-VN" b="1" dirty="0"/>
              <a:t>3. Điều khiển hành vi tối ưu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-effort high    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mức nỗ lực toàn cục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-usefulSkew true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dùng useful skew (post-CTS)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-fixFanoutLoad true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sửa fanout/load lớn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-restruct true  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cho phép cấu trúc lại logic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-allEndPoints true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tối ưu cả endpoint ngoài worst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-reclaimArea true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lấy lại diện tích khi dư slack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-leakageToDynamicRatio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0.5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cân bằng leakage/dynamic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b="1" dirty="0"/>
              <a:t>4. Giới hạn thay đổi trên cell/net cụ thể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setDontUse BUFX1 true      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cấm dùng cell này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set_dont_touch [get_cells u_core/U1] true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không cho tool sửa cell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-dontTouchNets {n5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92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}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giữ nguyên net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setOptMode -maxLength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800</a:t>
            </a: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  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giới hạn độ dài dây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b="1" dirty="0"/>
              <a:t>5. Ràng buộc SDC (bản chất yêu cầu timing)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vi-VN" dirty="0">
                <a:latin typeface="Courier New" panose="02070309020205020404" pitchFamily="49" charset="0"/>
              </a:rPr>
              <a:t>set_false_path</a:t>
            </a:r>
            <a:r>
              <a:rPr lang="vi-VN" dirty="0"/>
              <a:t>, </a:t>
            </a:r>
            <a:r>
              <a:rPr lang="vi-VN" dirty="0">
                <a:latin typeface="Courier New" panose="02070309020205020404" pitchFamily="49" charset="0"/>
              </a:rPr>
              <a:t>set_multicycle_path</a:t>
            </a:r>
            <a:r>
              <a:rPr lang="vi-VN" dirty="0"/>
              <a:t>: loại hoặc nới lỏng đường không cần tối ưu.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vi-VN" dirty="0">
                <a:latin typeface="Courier New" panose="02070309020205020404" pitchFamily="49" charset="0"/>
              </a:rPr>
              <a:t>set_case_analysis</a:t>
            </a:r>
            <a:r>
              <a:rPr lang="vi-VN" dirty="0"/>
              <a:t>: cố định mode.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vi-VN" dirty="0">
                <a:latin typeface="Courier New" panose="02070309020205020404" pitchFamily="49" charset="0"/>
              </a:rPr>
              <a:t>set_max_transition</a:t>
            </a:r>
            <a:r>
              <a:rPr lang="vi-VN" dirty="0"/>
              <a:t>, </a:t>
            </a:r>
            <a:r>
              <a:rPr lang="vi-VN" dirty="0">
                <a:latin typeface="Courier New" panose="02070309020205020404" pitchFamily="49" charset="0"/>
              </a:rPr>
              <a:t>set_max_fanout</a:t>
            </a:r>
            <a:r>
              <a:rPr lang="vi-VN" dirty="0"/>
              <a:t>, </a:t>
            </a:r>
            <a:r>
              <a:rPr lang="vi-VN" dirty="0">
                <a:latin typeface="Courier New" panose="02070309020205020404" pitchFamily="49" charset="0"/>
              </a:rPr>
              <a:t>set_max_capacitance</a:t>
            </a:r>
            <a:r>
              <a:rPr lang="vi-VN" dirty="0"/>
              <a:t>: ràng buộc DRV.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vi-VN" dirty="0">
                <a:latin typeface="Courier New" panose="02070309020205020404" pitchFamily="49" charset="0"/>
              </a:rPr>
              <a:t>set_input_delay</a:t>
            </a:r>
            <a:r>
              <a:rPr lang="vi-VN" dirty="0"/>
              <a:t>, </a:t>
            </a:r>
            <a:r>
              <a:rPr lang="vi-VN" dirty="0">
                <a:latin typeface="Courier New" panose="02070309020205020404" pitchFamily="49" charset="0"/>
              </a:rPr>
              <a:t>set_output_delay</a:t>
            </a:r>
            <a:r>
              <a:rPr lang="vi-VN" dirty="0"/>
              <a:t>: khai báo đúng I/O để tránh tối ưu thừa.</a:t>
            </a:r>
          </a:p>
          <a:p>
            <a:pPr rtl="0">
              <a:buNone/>
            </a:pPr>
            <a:r>
              <a:rPr lang="vi-VN" b="1" dirty="0"/>
              <a:t>6. Chạy tối ưu theo từng giai đoạn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place_opt_design               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giai đoạn place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optDesign -preCTS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optDesign -postCTS -setup -hold  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sau CTS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optDesign -postRoute -setup -hold ;</a:t>
            </a:r>
            <a:r>
              <a:rPr lang="vi-VN" dirty="0">
                <a:solidFill>
                  <a:srgbClr val="6E7687"/>
                </a:solidFill>
                <a:effectLst/>
                <a:latin typeface="var(--font-mono)"/>
              </a:rPr>
              <a:t># sau route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b="1" dirty="0"/>
              <a:t>7. Kiểm tra và lặp lại</a:t>
            </a:r>
          </a:p>
          <a:p>
            <a:pPr rtl="0">
              <a:buNone/>
            </a:pPr>
            <a:r>
              <a:rPr lang="vi-VN" dirty="0"/>
              <a:t>tcl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timeDesign -preCTS -pathReports -drvReports</a:t>
            </a: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report_timing -path_group CRIT -max_paths </a:t>
            </a:r>
            <a:r>
              <a:rPr lang="vi-VN" dirty="0">
                <a:solidFill>
                  <a:srgbClr val="008080"/>
                </a:solidFill>
                <a:effectLst/>
                <a:latin typeface="var(--font-mono)"/>
              </a:rPr>
              <a:t>10</a:t>
            </a:r>
            <a:endParaRPr lang="vi-VN" dirty="0">
              <a:solidFill>
                <a:srgbClr val="14181F"/>
              </a:solidFill>
              <a:effectLst/>
              <a:latin typeface="var(--font-mono)"/>
            </a:endParaRPr>
          </a:p>
          <a:p>
            <a:pPr rtl="0">
              <a:buNone/>
            </a:pPr>
            <a:r>
              <a:rPr lang="vi-VN" dirty="0">
                <a:solidFill>
                  <a:srgbClr val="14181F"/>
                </a:solidFill>
                <a:effectLst/>
                <a:latin typeface="var(--font-mono)"/>
              </a:rPr>
              <a:t>report_constraint -all_violators</a:t>
            </a:r>
          </a:p>
          <a:p>
            <a:pPr rtl="0">
              <a:buNone/>
            </a:pPr>
            <a:r>
              <a:rPr lang="vi-VN" b="1" dirty="0"/>
              <a:t>Quy trình gợi ý</a:t>
            </a:r>
          </a:p>
          <a:p>
            <a:pPr rtl="0">
              <a:buFont typeface="+mj-lt"/>
              <a:buAutoNum type="arabicPeriod"/>
            </a:pPr>
            <a:r>
              <a:rPr lang="vi-VN" dirty="0"/>
              <a:t>Kiểm tra SDC đúng chưa (false path, multicycle, I/O delay).</a:t>
            </a:r>
          </a:p>
          <a:p>
            <a:pPr rtl="0">
              <a:buFont typeface="+mj-lt"/>
              <a:buAutoNum type="arabicPeriod"/>
            </a:pPr>
            <a:r>
              <a:rPr lang="vi-VN" dirty="0"/>
              <a:t>Chạy tối ưu, xem path group nào tệ nhất.</a:t>
            </a:r>
          </a:p>
          <a:p>
            <a:pPr rtl="0">
              <a:buFont typeface="+mj-lt"/>
              <a:buAutoNum type="arabicPeriod"/>
            </a:pPr>
            <a:r>
              <a:rPr lang="vi-VN" dirty="0"/>
              <a:t>Tăng effort hoặc weight cho nhóm đó, thêm margin vừa phải.</a:t>
            </a:r>
          </a:p>
          <a:p>
            <a:pPr rtl="0">
              <a:buFont typeface="+mj-lt"/>
              <a:buAutoNum type="arabicPeriod"/>
            </a:pPr>
            <a:r>
              <a:rPr lang="vi-VN" dirty="0"/>
              <a:t>Dùng </a:t>
            </a:r>
            <a:r>
              <a:rPr lang="vi-VN" dirty="0">
                <a:latin typeface="Courier New" panose="02070309020205020404" pitchFamily="49" charset="0"/>
              </a:rPr>
              <a:t>dont_touch</a:t>
            </a:r>
            <a:r>
              <a:rPr lang="vi-VN" dirty="0"/>
              <a:t> bảo vệ phần đã tốt.</a:t>
            </a:r>
          </a:p>
          <a:p>
            <a:pPr rtl="0">
              <a:buFont typeface="+mj-lt"/>
              <a:buAutoNum type="arabicPeriod"/>
            </a:pPr>
            <a:r>
              <a:rPr lang="vi-VN" dirty="0"/>
              <a:t>Lặp lại và theo dõi diện tích/công suất.</a:t>
            </a:r>
          </a:p>
        </p:txBody>
      </p:sp>
    </p:spTree>
    <p:extLst>
      <p:ext uri="{BB962C8B-B14F-4D97-AF65-F5344CB8AC3E}">
        <p14:creationId xmlns:p14="http://schemas.microsoft.com/office/powerpoint/2010/main" val="128559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2511</Words>
  <Application>Microsoft Office PowerPoint</Application>
  <PresentationFormat>Widescreen</PresentationFormat>
  <Paragraphs>349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Segoe UI</vt:lpstr>
      <vt:lpstr>SegoeuiPc</vt:lpstr>
      <vt:lpstr>Times New Roman</vt:lpstr>
      <vt:lpstr>var(--font-mono)</vt:lpstr>
      <vt:lpstr>Office Theme</vt:lpstr>
      <vt:lpstr>PowerPoint Presentation</vt:lpstr>
      <vt:lpstr>Introduction</vt:lpstr>
      <vt:lpstr>Sources of OCV</vt:lpstr>
      <vt:lpstr>On Chip Variation (OCV) vs Process Voltage Temperature (PVT)</vt:lpstr>
      <vt:lpstr>Advanced On-chip Variation (AOCV)</vt:lpstr>
      <vt:lpstr>Advanced On-chip Variation (AOCV) - Calculations</vt:lpstr>
      <vt:lpstr>Parametric On-chip Variation (POCV)</vt:lpstr>
      <vt:lpstr>Parametric On-chip Variation (POCV) - Calculations</vt:lpstr>
      <vt:lpstr>Clock Reconvergence Pessimism Removal (CRPR)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khuong trinh</dc:creator>
  <cp:lastModifiedBy>khuong trinh</cp:lastModifiedBy>
  <cp:revision>8</cp:revision>
  <dcterms:created xsi:type="dcterms:W3CDTF">2026-10-27T20:12:14Z</dcterms:created>
  <dcterms:modified xsi:type="dcterms:W3CDTF">2026-10-27T21:26:45Z</dcterms:modified>
</cp:coreProperties>
</file>